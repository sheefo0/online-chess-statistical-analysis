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80" r:id="rId19"/>
    <p:sldId id="274" r:id="rId20"/>
    <p:sldId id="273" r:id="rId21"/>
    <p:sldId id="277" r:id="rId22"/>
    <p:sldId id="278" r:id="rId23"/>
    <p:sldId id="275" r:id="rId24"/>
    <p:sldId id="279" r:id="rId25"/>
  </p:sldIdLst>
  <p:sldSz cx="18288000" cy="10287000"/>
  <p:notesSz cx="6858000" cy="9144000"/>
  <p:embeddedFontLst>
    <p:embeddedFont>
      <p:font typeface="Archivo Black" panose="020B0604020202020204" charset="0"/>
      <p:regular r:id="rId27"/>
    </p:embeddedFont>
    <p:embeddedFont>
      <p:font typeface="Calibri (MS)" panose="020B0604020202020204" charset="0"/>
      <p:regular r:id="rId28"/>
    </p:embeddedFont>
    <p:embeddedFont>
      <p:font typeface="Calibri (MS) Bold" panose="020B0604020202020204" charset="0"/>
      <p:regular r:id="rId29"/>
    </p:embeddedFont>
    <p:embeddedFont>
      <p:font typeface="Calibri (MS) Bold Italics" panose="020B0604020202020204" charset="0"/>
      <p:regular r:id="rId30"/>
    </p:embeddedFont>
    <p:embeddedFont>
      <p:font typeface="Cambria Math" panose="02040503050406030204" pitchFamily="18" charset="0"/>
      <p:regular r:id="rId31"/>
    </p:embeddedFont>
    <p:embeddedFont>
      <p:font typeface="Canva Sans" panose="020B0604020202020204" charset="0"/>
      <p:regular r:id="rId32"/>
    </p:embeddedFont>
    <p:embeddedFont>
      <p:font typeface="Open Sans" panose="020B0606030504020204" pitchFamily="34" charset="0"/>
      <p:regular r:id="rId33"/>
      <p:bold r:id="rId34"/>
      <p:italic r:id="rId35"/>
      <p:boldItalic r:id="rId36"/>
    </p:embeddedFont>
    <p:embeddedFont>
      <p:font typeface="Open Sans Bold" panose="020B0806030504020204"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56" d="100"/>
          <a:sy n="56" d="100"/>
        </p:scale>
        <p:origin x="63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519C36-00F1-426E-B72D-51A7A96755A4}" type="datetimeFigureOut">
              <a:rPr lang="en-US" smtClean="0"/>
              <a:t>12/20/2025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79A864-D7BD-4386-B216-0611CCB4A0CC}" type="slidenum">
              <a:rPr lang="en-US" smtClean="0"/>
              <a:t>‹#›</a:t>
            </a:fld>
            <a:endParaRPr lang="en-US"/>
          </a:p>
        </p:txBody>
      </p:sp>
    </p:spTree>
    <p:extLst>
      <p:ext uri="{BB962C8B-B14F-4D97-AF65-F5344CB8AC3E}">
        <p14:creationId xmlns:p14="http://schemas.microsoft.com/office/powerpoint/2010/main" val="2726551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sv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sv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svg"/><Relationship Id="rId7"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sv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svg"/><Relationship Id="rId7"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sv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svg"/><Relationship Id="rId7"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sv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2.jpeg"/><Relationship Id="rId5" Type="http://schemas.openxmlformats.org/officeDocument/2006/relationships/image" Target="../media/image5.sv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4.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5.sv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3.svg"/><Relationship Id="rId7" Type="http://schemas.openxmlformats.org/officeDocument/2006/relationships/image" Target="../media/image26.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5.jpeg"/><Relationship Id="rId5" Type="http://schemas.openxmlformats.org/officeDocument/2006/relationships/image" Target="../media/image5.sv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8.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7.jpeg"/><Relationship Id="rId5" Type="http://schemas.openxmlformats.org/officeDocument/2006/relationships/image" Target="../media/image5.sv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slideLayout" Target="../slideLayouts/slideLayout7.xml"/><Relationship Id="rId1" Type="http://schemas.openxmlformats.org/officeDocument/2006/relationships/themeOverride" Target="../theme/themeOverride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9.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image" Target="../media/image2.png"/><Relationship Id="rId7" Type="http://schemas.openxmlformats.org/officeDocument/2006/relationships/image" Target="../media/image27.jpeg"/><Relationship Id="rId2" Type="http://schemas.openxmlformats.org/officeDocument/2006/relationships/slideLayout" Target="../slideLayouts/slideLayout7.xml"/><Relationship Id="rId1" Type="http://schemas.openxmlformats.org/officeDocument/2006/relationships/themeOverride" Target="../theme/themeOverride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7.jpeg"/><Relationship Id="rId2" Type="http://schemas.openxmlformats.org/officeDocument/2006/relationships/slideLayout" Target="../slideLayouts/slideLayout7.xml"/><Relationship Id="rId1" Type="http://schemas.openxmlformats.org/officeDocument/2006/relationships/themeOverride" Target="../theme/themeOverride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png"/><Relationship Id="rId7" Type="http://schemas.openxmlformats.org/officeDocument/2006/relationships/image" Target="../media/image30.png"/><Relationship Id="rId2" Type="http://schemas.openxmlformats.org/officeDocument/2006/relationships/slideLayout" Target="../slideLayouts/slideLayout7.xml"/><Relationship Id="rId1" Type="http://schemas.openxmlformats.org/officeDocument/2006/relationships/themeOverride" Target="../theme/themeOverride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png"/><Relationship Id="rId7" Type="http://schemas.openxmlformats.org/officeDocument/2006/relationships/image" Target="../media/image32.png"/><Relationship Id="rId2" Type="http://schemas.openxmlformats.org/officeDocument/2006/relationships/slideLayout" Target="../slideLayouts/slideLayout7.xml"/><Relationship Id="rId1" Type="http://schemas.openxmlformats.org/officeDocument/2006/relationships/themeOverride" Target="../theme/themeOverride5.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3.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png"/><Relationship Id="rId7" Type="http://schemas.openxmlformats.org/officeDocument/2006/relationships/image" Target="../media/image34.png"/><Relationship Id="rId2" Type="http://schemas.openxmlformats.org/officeDocument/2006/relationships/slideLayout" Target="../slideLayouts/slideLayout7.xml"/><Relationship Id="rId1" Type="http://schemas.openxmlformats.org/officeDocument/2006/relationships/themeOverride" Target="../theme/themeOverride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28.jpe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8" r="-8"/>
              </a:stretch>
            </a:blipFill>
          </p:spPr>
          <p:txBody>
            <a:bodyPr/>
            <a:lstStyle/>
            <a:p>
              <a:endParaRPr lang="en-US" dirty="0"/>
            </a:p>
          </p:txBody>
        </p:sp>
      </p:grpSp>
      <p:sp>
        <p:nvSpPr>
          <p:cNvPr id="5" name="Freeform 5"/>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5">
              <a:extLst>
                <a:ext uri="{96DAC541-7B7A-43D3-8B79-37D633B846F1}">
                  <asvg:svgBlip xmlns:asvg="http://schemas.microsoft.com/office/drawing/2016/SVG/main" r:embed="rId6"/>
                </a:ext>
              </a:extLst>
            </a:blip>
            <a:stretch>
              <a:fillRect t="-419" b="-424"/>
            </a:stretch>
          </a:blipFill>
        </p:spPr>
        <p:txBody>
          <a:bodyPr/>
          <a:lstStyle/>
          <a:p>
            <a:endParaRPr lang="en-US"/>
          </a:p>
        </p:txBody>
      </p:sp>
      <p:sp>
        <p:nvSpPr>
          <p:cNvPr id="7" name="TextBox 7"/>
          <p:cNvSpPr txBox="1"/>
          <p:nvPr/>
        </p:nvSpPr>
        <p:spPr>
          <a:xfrm>
            <a:off x="3647961" y="1714500"/>
            <a:ext cx="10439400" cy="414985"/>
          </a:xfrm>
          <a:prstGeom prst="rect">
            <a:avLst/>
          </a:prstGeom>
        </p:spPr>
        <p:txBody>
          <a:bodyPr wrap="square" lIns="0" tIns="0" rIns="0" bIns="0" rtlCol="0" anchor="ctr">
            <a:spAutoFit/>
          </a:bodyPr>
          <a:lstStyle/>
          <a:p>
            <a:pPr algn="ctr">
              <a:lnSpc>
                <a:spcPts val="2799"/>
              </a:lnSpc>
            </a:pPr>
            <a:r>
              <a:rPr lang="en-US" sz="4400" b="1" dirty="0">
                <a:solidFill>
                  <a:srgbClr val="FFFFFF"/>
                </a:solidFill>
                <a:latin typeface="Open Sans Bold"/>
                <a:ea typeface="Open Sans Bold"/>
                <a:cs typeface="Open Sans Bold"/>
                <a:sym typeface="Open Sans Bold"/>
              </a:rPr>
              <a:t>Statistical Analysis of Online Chess</a:t>
            </a:r>
          </a:p>
        </p:txBody>
      </p:sp>
      <p:sp>
        <p:nvSpPr>
          <p:cNvPr id="8" name="TextBox 8"/>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About</a:t>
            </a:r>
          </a:p>
        </p:txBody>
      </p:sp>
      <p:sp>
        <p:nvSpPr>
          <p:cNvPr id="9" name="TextBox 9"/>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Project</a:t>
            </a:r>
          </a:p>
        </p:txBody>
      </p:sp>
      <p:sp>
        <p:nvSpPr>
          <p:cNvPr id="10" name="TextBox 10"/>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11" name="TextBox 10">
            <a:extLst>
              <a:ext uri="{FF2B5EF4-FFF2-40B4-BE49-F238E27FC236}">
                <a16:creationId xmlns:a16="http://schemas.microsoft.com/office/drawing/2014/main" id="{C596E7A9-7ECE-E0B8-9CA6-B023739B65F2}"/>
              </a:ext>
            </a:extLst>
          </p:cNvPr>
          <p:cNvSpPr txBox="1"/>
          <p:nvPr/>
        </p:nvSpPr>
        <p:spPr>
          <a:xfrm>
            <a:off x="4562361" y="2119818"/>
            <a:ext cx="7772400" cy="6740307"/>
          </a:xfrm>
          <a:prstGeom prst="rect">
            <a:avLst/>
          </a:prstGeom>
          <a:noFill/>
        </p:spPr>
        <p:txBody>
          <a:bodyPr wrap="square" rtlCol="0" anchor="ctr">
            <a:spAutoFit/>
          </a:bodyPr>
          <a:lstStyle/>
          <a:p>
            <a:pPr algn="ctr"/>
            <a:r>
              <a:rPr lang="en-US" sz="3600" b="1" dirty="0">
                <a:solidFill>
                  <a:schemeClr val="bg1"/>
                </a:solidFill>
              </a:rPr>
              <a:t> </a:t>
            </a:r>
            <a:endParaRPr lang="en-US" sz="3600" dirty="0">
              <a:solidFill>
                <a:schemeClr val="bg1"/>
              </a:solidFill>
            </a:endParaRPr>
          </a:p>
          <a:p>
            <a:pPr algn="ctr"/>
            <a:r>
              <a:rPr lang="en-US" sz="3600" b="1" u="sng" dirty="0">
                <a:solidFill>
                  <a:schemeClr val="bg1"/>
                </a:solidFill>
              </a:rPr>
              <a:t>Group members:</a:t>
            </a:r>
          </a:p>
          <a:p>
            <a:pPr algn="ctr"/>
            <a:r>
              <a:rPr lang="en-US" sz="3600" dirty="0">
                <a:solidFill>
                  <a:schemeClr val="bg1"/>
                </a:solidFill>
              </a:rPr>
              <a:t>Mohannad Amr </a:t>
            </a:r>
          </a:p>
          <a:p>
            <a:pPr algn="ctr"/>
            <a:r>
              <a:rPr lang="en-US" sz="3600" dirty="0">
                <a:solidFill>
                  <a:schemeClr val="bg1"/>
                </a:solidFill>
              </a:rPr>
              <a:t>Mohamed Sherif</a:t>
            </a:r>
          </a:p>
          <a:p>
            <a:pPr algn="ctr"/>
            <a:r>
              <a:rPr lang="en-US" sz="3600" dirty="0">
                <a:solidFill>
                  <a:schemeClr val="bg1"/>
                </a:solidFill>
              </a:rPr>
              <a:t>Mohamed Saber</a:t>
            </a:r>
          </a:p>
          <a:p>
            <a:pPr algn="ctr"/>
            <a:r>
              <a:rPr lang="en-US" sz="3600" dirty="0">
                <a:solidFill>
                  <a:schemeClr val="bg1"/>
                </a:solidFill>
              </a:rPr>
              <a:t>Yassin Hany </a:t>
            </a:r>
          </a:p>
          <a:p>
            <a:pPr algn="ctr"/>
            <a:r>
              <a:rPr lang="en-US" sz="3600" dirty="0">
                <a:solidFill>
                  <a:schemeClr val="bg1"/>
                </a:solidFill>
              </a:rPr>
              <a:t> </a:t>
            </a:r>
          </a:p>
          <a:p>
            <a:pPr algn="ctr"/>
            <a:r>
              <a:rPr lang="en-US" sz="3600" dirty="0">
                <a:solidFill>
                  <a:schemeClr val="bg1"/>
                </a:solidFill>
              </a:rPr>
              <a:t> </a:t>
            </a:r>
          </a:p>
          <a:p>
            <a:pPr algn="ctr"/>
            <a:r>
              <a:rPr lang="en-US" sz="3600" b="1" u="sng" dirty="0">
                <a:solidFill>
                  <a:schemeClr val="bg1"/>
                </a:solidFill>
              </a:rPr>
              <a:t>Supervised By</a:t>
            </a:r>
            <a:endParaRPr lang="en-US" sz="3600" dirty="0">
              <a:solidFill>
                <a:schemeClr val="bg1"/>
              </a:solidFill>
            </a:endParaRPr>
          </a:p>
          <a:p>
            <a:pPr algn="ctr"/>
            <a:r>
              <a:rPr lang="en-US" sz="3600" dirty="0" err="1">
                <a:solidFill>
                  <a:schemeClr val="bg1"/>
                </a:solidFill>
              </a:rPr>
              <a:t>DR.Karim</a:t>
            </a:r>
            <a:r>
              <a:rPr lang="en-US" sz="3600" dirty="0">
                <a:solidFill>
                  <a:schemeClr val="bg1"/>
                </a:solidFill>
              </a:rPr>
              <a:t> Hammam Seleim</a:t>
            </a:r>
          </a:p>
          <a:p>
            <a:pPr algn="ctr"/>
            <a:r>
              <a:rPr lang="en-US" sz="3600" dirty="0">
                <a:solidFill>
                  <a:schemeClr val="bg1"/>
                </a:solidFill>
              </a:rPr>
              <a:t>Nermine Mamdouh</a:t>
            </a:r>
          </a:p>
          <a:p>
            <a:pPr algn="ctr"/>
            <a:endParaRPr lang="en-US" sz="36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4">
              <a:extLst>
                <a:ext uri="{96DAC541-7B7A-43D3-8B79-37D633B846F1}">
                  <asvg:svgBlip xmlns:asvg="http://schemas.microsoft.com/office/drawing/2016/SVG/main" r:embed="rId5"/>
                </a:ext>
              </a:extLst>
            </a:blip>
            <a:stretch>
              <a:fillRect t="-419" b="-424"/>
            </a:stretch>
          </a:blipFill>
        </p:spPr>
        <p:txBody>
          <a:bodyPr/>
          <a:lstStyle/>
          <a:p>
            <a:endParaRPr lang="en-US"/>
          </a:p>
        </p:txBody>
      </p:sp>
      <p:grpSp>
        <p:nvGrpSpPr>
          <p:cNvPr id="4" name="Group 4"/>
          <p:cNvGrpSpPr/>
          <p:nvPr/>
        </p:nvGrpSpPr>
        <p:grpSpPr>
          <a:xfrm>
            <a:off x="9700422" y="1634557"/>
            <a:ext cx="6829330" cy="7017896"/>
            <a:chOff x="0" y="0"/>
            <a:chExt cx="9105773" cy="9357195"/>
          </a:xfrm>
        </p:grpSpPr>
        <p:sp>
          <p:nvSpPr>
            <p:cNvPr id="5" name="Freeform 5"/>
            <p:cNvSpPr/>
            <p:nvPr/>
          </p:nvSpPr>
          <p:spPr>
            <a:xfrm>
              <a:off x="0" y="0"/>
              <a:ext cx="9105773" cy="9357233"/>
            </a:xfrm>
            <a:custGeom>
              <a:avLst/>
              <a:gdLst/>
              <a:ahLst/>
              <a:cxnLst/>
              <a:rect l="l" t="t" r="r" b="b"/>
              <a:pathLst>
                <a:path w="9105773" h="9357233">
                  <a:moveTo>
                    <a:pt x="0" y="0"/>
                  </a:moveTo>
                  <a:lnTo>
                    <a:pt x="9105773" y="0"/>
                  </a:lnTo>
                  <a:lnTo>
                    <a:pt x="9105773" y="9357233"/>
                  </a:lnTo>
                  <a:lnTo>
                    <a:pt x="0" y="9357233"/>
                  </a:lnTo>
                  <a:close/>
                </a:path>
              </a:pathLst>
            </a:custGeom>
            <a:blipFill>
              <a:blip r:embed="rId6"/>
              <a:stretch>
                <a:fillRect l="-18485" r="-18485"/>
              </a:stretch>
            </a:blipFill>
          </p:spPr>
          <p:txBody>
            <a:bodyPr/>
            <a:lstStyle/>
            <a:p>
              <a:endParaRPr lang="en-US"/>
            </a:p>
          </p:txBody>
        </p:sp>
      </p:grpSp>
      <p:sp>
        <p:nvSpPr>
          <p:cNvPr id="6" name="TextBox 6"/>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About</a:t>
            </a:r>
          </a:p>
        </p:txBody>
      </p:sp>
      <p:sp>
        <p:nvSpPr>
          <p:cNvPr id="7" name="TextBox 7"/>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Project</a:t>
            </a:r>
          </a:p>
        </p:txBody>
      </p:sp>
      <p:sp>
        <p:nvSpPr>
          <p:cNvPr id="8" name="TextBox 8"/>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9" name="TextBox 9"/>
          <p:cNvSpPr txBox="1"/>
          <p:nvPr/>
        </p:nvSpPr>
        <p:spPr>
          <a:xfrm>
            <a:off x="1758239" y="1920307"/>
            <a:ext cx="7043376" cy="801500"/>
          </a:xfrm>
          <a:prstGeom prst="rect">
            <a:avLst/>
          </a:prstGeom>
        </p:spPr>
        <p:txBody>
          <a:bodyPr lIns="0" tIns="0" rIns="0" bIns="0" rtlCol="0" anchor="t">
            <a:spAutoFit/>
          </a:bodyPr>
          <a:lstStyle/>
          <a:p>
            <a:pPr algn="l">
              <a:lnSpc>
                <a:spcPts val="7183"/>
              </a:lnSpc>
            </a:pPr>
            <a:r>
              <a:rPr lang="en-US" sz="7183">
                <a:solidFill>
                  <a:srgbClr val="FFFFFF"/>
                </a:solidFill>
                <a:latin typeface="Archivo Black"/>
                <a:ea typeface="Archivo Black"/>
                <a:cs typeface="Archivo Black"/>
                <a:sym typeface="Archivo Black"/>
              </a:rPr>
              <a:t>Introduction</a:t>
            </a:r>
          </a:p>
        </p:txBody>
      </p:sp>
      <p:sp>
        <p:nvSpPr>
          <p:cNvPr id="10" name="TextBox 10"/>
          <p:cNvSpPr txBox="1"/>
          <p:nvPr/>
        </p:nvSpPr>
        <p:spPr>
          <a:xfrm>
            <a:off x="1841078" y="3160395"/>
            <a:ext cx="6593281" cy="4357392"/>
          </a:xfrm>
          <a:prstGeom prst="rect">
            <a:avLst/>
          </a:prstGeom>
        </p:spPr>
        <p:txBody>
          <a:bodyPr lIns="0" tIns="0" rIns="0" bIns="0" rtlCol="0" anchor="t">
            <a:spAutoFit/>
          </a:bodyPr>
          <a:lstStyle/>
          <a:p>
            <a:pPr algn="l">
              <a:lnSpc>
                <a:spcPts val="3359"/>
              </a:lnSpc>
            </a:pPr>
            <a:r>
              <a:rPr lang="en-US" sz="2799">
                <a:solidFill>
                  <a:srgbClr val="FFFFFF"/>
                </a:solidFill>
                <a:latin typeface="Calibri (MS)"/>
                <a:ea typeface="Calibri (MS)"/>
                <a:cs typeface="Calibri (MS)"/>
                <a:sym typeface="Calibri (MS)"/>
              </a:rPr>
              <a:t>Chess is a well-known game that depends on tactics, wisdom, and decision-making, and with the rise of online platforms like Lichess and millions of games are played, and these games capture information on players, moves, and results. Analyzing this data can provide insights into how factors such as player rating, choice of moves, and the time taken to make a move influence game outcomes.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TextBox 2"/>
          <p:cNvSpPr txBox="1"/>
          <p:nvPr/>
        </p:nvSpPr>
        <p:spPr>
          <a:xfrm>
            <a:off x="1844040" y="579120"/>
            <a:ext cx="13761720" cy="946194"/>
          </a:xfrm>
          <a:prstGeom prst="rect">
            <a:avLst/>
          </a:prstGeom>
        </p:spPr>
        <p:txBody>
          <a:bodyPr lIns="0" tIns="0" rIns="0" bIns="0" rtlCol="0" anchor="t">
            <a:spAutoFit/>
          </a:bodyPr>
          <a:lstStyle/>
          <a:p>
            <a:pPr algn="ctr">
              <a:lnSpc>
                <a:spcPts val="6480"/>
              </a:lnSpc>
            </a:pPr>
            <a:r>
              <a:rPr lang="en-US" sz="5400" b="1" i="1">
                <a:solidFill>
                  <a:srgbClr val="FFFFFF"/>
                </a:solidFill>
                <a:latin typeface="Calibri (MS) Bold Italics"/>
                <a:ea typeface="Calibri (MS) Bold Italics"/>
                <a:cs typeface="Calibri (MS) Bold Italics"/>
                <a:sym typeface="Calibri (MS) Bold Italics"/>
              </a:rPr>
              <a:t>Dataset Description</a:t>
            </a:r>
          </a:p>
        </p:txBody>
      </p:sp>
      <p:grpSp>
        <p:nvGrpSpPr>
          <p:cNvPr id="3" name="Group 3"/>
          <p:cNvGrpSpPr/>
          <p:nvPr/>
        </p:nvGrpSpPr>
        <p:grpSpPr>
          <a:xfrm>
            <a:off x="9906000" y="2705100"/>
            <a:ext cx="7315200" cy="4648200"/>
            <a:chOff x="0" y="0"/>
            <a:chExt cx="9753600" cy="6197600"/>
          </a:xfrm>
        </p:grpSpPr>
        <p:sp>
          <p:nvSpPr>
            <p:cNvPr id="4" name="Freeform 4"/>
            <p:cNvSpPr/>
            <p:nvPr/>
          </p:nvSpPr>
          <p:spPr>
            <a:xfrm>
              <a:off x="0" y="0"/>
              <a:ext cx="9753600" cy="6197600"/>
            </a:xfrm>
            <a:custGeom>
              <a:avLst/>
              <a:gdLst/>
              <a:ahLst/>
              <a:cxnLst/>
              <a:rect l="l" t="t" r="r" b="b"/>
              <a:pathLst>
                <a:path w="9753600" h="6197600">
                  <a:moveTo>
                    <a:pt x="0" y="0"/>
                  </a:moveTo>
                  <a:lnTo>
                    <a:pt x="9753600" y="0"/>
                  </a:lnTo>
                  <a:lnTo>
                    <a:pt x="9753600" y="6197600"/>
                  </a:lnTo>
                  <a:lnTo>
                    <a:pt x="0" y="6197600"/>
                  </a:lnTo>
                  <a:close/>
                </a:path>
              </a:pathLst>
            </a:custGeom>
            <a:blipFill>
              <a:blip r:embed="rId2"/>
              <a:stretch>
                <a:fillRect t="-2509" b="-2509"/>
              </a:stretch>
            </a:blipFill>
          </p:spPr>
          <p:txBody>
            <a:bodyPr/>
            <a:lstStyle/>
            <a:p>
              <a:endParaRPr lang="en-US"/>
            </a:p>
          </p:txBody>
        </p:sp>
      </p:grpSp>
      <p:sp>
        <p:nvSpPr>
          <p:cNvPr id="5" name="TextBox 5"/>
          <p:cNvSpPr txBox="1"/>
          <p:nvPr/>
        </p:nvSpPr>
        <p:spPr>
          <a:xfrm>
            <a:off x="624840" y="2693670"/>
            <a:ext cx="7360920" cy="3997585"/>
          </a:xfrm>
          <a:prstGeom prst="rect">
            <a:avLst/>
          </a:prstGeom>
        </p:spPr>
        <p:txBody>
          <a:bodyPr lIns="0" tIns="0" rIns="0" bIns="0" rtlCol="0" anchor="t">
            <a:spAutoFit/>
          </a:bodyPr>
          <a:lstStyle/>
          <a:p>
            <a:pPr algn="l">
              <a:lnSpc>
                <a:spcPts val="3840"/>
              </a:lnSpc>
            </a:pPr>
            <a:r>
              <a:rPr lang="en-US" sz="3200">
                <a:solidFill>
                  <a:srgbClr val="FFFFFF"/>
                </a:solidFill>
                <a:latin typeface="Calibri (MS)"/>
                <a:ea typeface="Calibri (MS)"/>
                <a:cs typeface="Calibri (MS)"/>
                <a:sym typeface="Calibri (MS)"/>
              </a:rPr>
              <a:t>This dataset contains information about online chess games. Each observation represents a single chess game played between two players. The dataset includes player details, player ratings, game outcomes, number of turns, time control formats, move sequences, and the opening used.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TextBox 2"/>
          <p:cNvSpPr txBox="1"/>
          <p:nvPr/>
        </p:nvSpPr>
        <p:spPr>
          <a:xfrm>
            <a:off x="1844040" y="579120"/>
            <a:ext cx="13761720" cy="946194"/>
          </a:xfrm>
          <a:prstGeom prst="rect">
            <a:avLst/>
          </a:prstGeom>
        </p:spPr>
        <p:txBody>
          <a:bodyPr lIns="0" tIns="0" rIns="0" bIns="0" rtlCol="0" anchor="t">
            <a:spAutoFit/>
          </a:bodyPr>
          <a:lstStyle/>
          <a:p>
            <a:pPr algn="ctr">
              <a:lnSpc>
                <a:spcPts val="6480"/>
              </a:lnSpc>
            </a:pPr>
            <a:r>
              <a:rPr lang="en-US" sz="5400" b="1" i="1">
                <a:solidFill>
                  <a:srgbClr val="FFFFFF"/>
                </a:solidFill>
                <a:latin typeface="Calibri (MS) Bold Italics"/>
                <a:ea typeface="Calibri (MS) Bold Italics"/>
                <a:cs typeface="Calibri (MS) Bold Italics"/>
                <a:sym typeface="Calibri (MS) Bold Italics"/>
              </a:rPr>
              <a:t>Variables Description Table</a:t>
            </a:r>
          </a:p>
        </p:txBody>
      </p:sp>
      <p:graphicFrame>
        <p:nvGraphicFramePr>
          <p:cNvPr id="3" name="Table 3"/>
          <p:cNvGraphicFramePr>
            <a:graphicFrameLocks noGrp="1"/>
          </p:cNvGraphicFramePr>
          <p:nvPr>
            <p:extLst>
              <p:ext uri="{D42A27DB-BD31-4B8C-83A1-F6EECF244321}">
                <p14:modId xmlns:p14="http://schemas.microsoft.com/office/powerpoint/2010/main" val="1587955474"/>
              </p:ext>
            </p:extLst>
          </p:nvPr>
        </p:nvGraphicFramePr>
        <p:xfrm>
          <a:off x="1600200" y="3086094"/>
          <a:ext cx="13716000" cy="6339840"/>
        </p:xfrm>
        <a:graphic>
          <a:graphicData uri="http://schemas.openxmlformats.org/drawingml/2006/table">
            <a:tbl>
              <a:tblPr/>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69900">
                <a:tc>
                  <a:txBody>
                    <a:bodyPr/>
                    <a:lstStyle/>
                    <a:p>
                      <a:pPr algn="l">
                        <a:lnSpc>
                          <a:spcPts val="2400"/>
                        </a:lnSpc>
                        <a:defRPr/>
                      </a:pPr>
                      <a:r>
                        <a:rPr lang="en-US" sz="2000" b="1">
                          <a:solidFill>
                            <a:schemeClr val="bg1"/>
                          </a:solidFill>
                          <a:latin typeface="Calibri (MS) Bold"/>
                          <a:ea typeface="Calibri (MS) Bold"/>
                          <a:cs typeface="Calibri (MS) Bold"/>
                          <a:sym typeface="Calibri (MS) Bold"/>
                        </a:rPr>
                        <a:t>Variable</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b="1">
                          <a:solidFill>
                            <a:schemeClr val="bg1"/>
                          </a:solidFill>
                          <a:latin typeface="Calibri (MS) Bold"/>
                          <a:ea typeface="Calibri (MS) Bold"/>
                          <a:cs typeface="Calibri (MS) Bold"/>
                          <a:sym typeface="Calibri (MS) Bold"/>
                        </a:rPr>
                        <a:t>Description</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b="1">
                          <a:solidFill>
                            <a:schemeClr val="bg1"/>
                          </a:solidFill>
                          <a:latin typeface="Calibri (MS) Bold"/>
                          <a:ea typeface="Calibri (MS) Bold"/>
                          <a:cs typeface="Calibri (MS) Bold"/>
                          <a:sym typeface="Calibri (MS) Bold"/>
                        </a:rPr>
                        <a:t>Type</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69900">
                <a:tc>
                  <a:txBody>
                    <a:bodyPr/>
                    <a:lstStyle/>
                    <a:p>
                      <a:pPr algn="l">
                        <a:lnSpc>
                          <a:spcPts val="2400"/>
                        </a:lnSpc>
                        <a:defRPr/>
                      </a:pPr>
                      <a:r>
                        <a:rPr lang="en-US" sz="2000" dirty="0">
                          <a:solidFill>
                            <a:schemeClr val="bg1"/>
                          </a:solidFill>
                          <a:latin typeface="Calibri (MS)"/>
                          <a:ea typeface="Calibri (MS)"/>
                          <a:cs typeface="Calibri (MS)"/>
                          <a:sym typeface="Calibri (MS)"/>
                        </a:rPr>
                        <a:t>ID</a:t>
                      </a:r>
                      <a:endParaRPr lang="en-US" sz="1100" dirty="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A unique identifier for every chess game</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Qualitative (Nominal)</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1"/>
                  </a:ext>
                </a:extLst>
              </a:tr>
              <a:tr h="469900">
                <a:tc>
                  <a:txBody>
                    <a:bodyPr/>
                    <a:lstStyle/>
                    <a:p>
                      <a:pPr algn="l">
                        <a:lnSpc>
                          <a:spcPts val="2400"/>
                        </a:lnSpc>
                        <a:defRPr/>
                      </a:pPr>
                      <a:r>
                        <a:rPr lang="en-US" sz="2000" dirty="0">
                          <a:solidFill>
                            <a:schemeClr val="bg1"/>
                          </a:solidFill>
                          <a:latin typeface="Calibri (MS)"/>
                          <a:ea typeface="Calibri (MS)"/>
                          <a:cs typeface="Calibri (MS)"/>
                          <a:sym typeface="Calibri (MS)"/>
                        </a:rPr>
                        <a:t>Rated</a:t>
                      </a:r>
                      <a:endParaRPr lang="en-US" sz="1100" dirty="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Indicates if the game is rated or not</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Qualitative (Nominal)</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2"/>
                  </a:ext>
                </a:extLst>
              </a:tr>
              <a:tr h="469900">
                <a:tc>
                  <a:txBody>
                    <a:bodyPr/>
                    <a:lstStyle/>
                    <a:p>
                      <a:pPr algn="l">
                        <a:lnSpc>
                          <a:spcPts val="2400"/>
                        </a:lnSpc>
                        <a:defRPr/>
                      </a:pPr>
                      <a:r>
                        <a:rPr lang="en-US" sz="2000">
                          <a:solidFill>
                            <a:schemeClr val="bg1"/>
                          </a:solidFill>
                          <a:latin typeface="Calibri (MS)"/>
                          <a:ea typeface="Calibri (MS)"/>
                          <a:cs typeface="Calibri (MS)"/>
                          <a:sym typeface="Calibri (MS)"/>
                        </a:rPr>
                        <a:t>Turns</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The total number of moves in the game</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Quantitative (Discrete)</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3"/>
                  </a:ext>
                </a:extLst>
              </a:tr>
              <a:tr h="469900">
                <a:tc>
                  <a:txBody>
                    <a:bodyPr/>
                    <a:lstStyle/>
                    <a:p>
                      <a:pPr algn="l">
                        <a:lnSpc>
                          <a:spcPts val="2400"/>
                        </a:lnSpc>
                        <a:defRPr/>
                      </a:pPr>
                      <a:r>
                        <a:rPr lang="en-US" sz="2000">
                          <a:solidFill>
                            <a:schemeClr val="bg1"/>
                          </a:solidFill>
                          <a:latin typeface="Calibri (MS)"/>
                          <a:ea typeface="Calibri (MS)"/>
                          <a:cs typeface="Calibri (MS)"/>
                          <a:sym typeface="Calibri (MS)"/>
                        </a:rPr>
                        <a:t>Victory_status</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How the game ended</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Qualitative (Nominal)</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4"/>
                  </a:ext>
                </a:extLst>
              </a:tr>
              <a:tr h="469900">
                <a:tc>
                  <a:txBody>
                    <a:bodyPr/>
                    <a:lstStyle/>
                    <a:p>
                      <a:pPr algn="l">
                        <a:lnSpc>
                          <a:spcPts val="2400"/>
                        </a:lnSpc>
                        <a:defRPr/>
                      </a:pPr>
                      <a:r>
                        <a:rPr lang="en-US" sz="2000">
                          <a:solidFill>
                            <a:schemeClr val="bg1"/>
                          </a:solidFill>
                          <a:latin typeface="Calibri (MS)"/>
                          <a:ea typeface="Calibri (MS)"/>
                          <a:cs typeface="Calibri (MS)"/>
                          <a:sym typeface="Calibri (MS)"/>
                        </a:rPr>
                        <a:t>Winner</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Indicates who won (white or black)</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Qualitative (Nominal)</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5"/>
                  </a:ext>
                </a:extLst>
              </a:tr>
              <a:tr h="469900">
                <a:tc>
                  <a:txBody>
                    <a:bodyPr/>
                    <a:lstStyle/>
                    <a:p>
                      <a:pPr algn="l">
                        <a:lnSpc>
                          <a:spcPts val="2400"/>
                        </a:lnSpc>
                        <a:defRPr/>
                      </a:pPr>
                      <a:r>
                        <a:rPr lang="en-US" sz="2000">
                          <a:solidFill>
                            <a:schemeClr val="bg1"/>
                          </a:solidFill>
                          <a:latin typeface="Calibri (MS)"/>
                          <a:ea typeface="Calibri (MS)"/>
                          <a:cs typeface="Calibri (MS)"/>
                          <a:sym typeface="Calibri (MS)"/>
                        </a:rPr>
                        <a:t>Increment_code</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Describes the time control format</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Qualitative (Nominal)</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6"/>
                  </a:ext>
                </a:extLst>
              </a:tr>
              <a:tr h="469900">
                <a:tc>
                  <a:txBody>
                    <a:bodyPr/>
                    <a:lstStyle/>
                    <a:p>
                      <a:pPr algn="l">
                        <a:lnSpc>
                          <a:spcPts val="2400"/>
                        </a:lnSpc>
                        <a:defRPr/>
                      </a:pPr>
                      <a:r>
                        <a:rPr lang="en-US" sz="2000">
                          <a:solidFill>
                            <a:schemeClr val="bg1"/>
                          </a:solidFill>
                          <a:latin typeface="Calibri (MS)"/>
                          <a:ea typeface="Calibri (MS)"/>
                          <a:cs typeface="Calibri (MS)"/>
                          <a:sym typeface="Calibri (MS)"/>
                        </a:rPr>
                        <a:t>White_Id</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The username or ID of the White player</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Qualitative (Nominal)</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7"/>
                  </a:ext>
                </a:extLst>
              </a:tr>
              <a:tr h="469900">
                <a:tc>
                  <a:txBody>
                    <a:bodyPr/>
                    <a:lstStyle/>
                    <a:p>
                      <a:pPr algn="l">
                        <a:lnSpc>
                          <a:spcPts val="2400"/>
                        </a:lnSpc>
                        <a:defRPr/>
                      </a:pPr>
                      <a:r>
                        <a:rPr lang="en-US" sz="2000">
                          <a:solidFill>
                            <a:schemeClr val="bg1"/>
                          </a:solidFill>
                          <a:latin typeface="Calibri (MS)"/>
                          <a:ea typeface="Calibri (MS)"/>
                          <a:cs typeface="Calibri (MS)"/>
                          <a:sym typeface="Calibri (MS)"/>
                        </a:rPr>
                        <a:t>White_rating</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The player’s skill rating before the game</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Quantitative (Discrete)</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8"/>
                  </a:ext>
                </a:extLst>
              </a:tr>
              <a:tr h="469900">
                <a:tc>
                  <a:txBody>
                    <a:bodyPr/>
                    <a:lstStyle/>
                    <a:p>
                      <a:pPr algn="l">
                        <a:lnSpc>
                          <a:spcPts val="2400"/>
                        </a:lnSpc>
                        <a:defRPr/>
                      </a:pPr>
                      <a:r>
                        <a:rPr lang="en-US" sz="2000">
                          <a:solidFill>
                            <a:schemeClr val="bg1"/>
                          </a:solidFill>
                          <a:latin typeface="Calibri (MS)"/>
                          <a:ea typeface="Calibri (MS)"/>
                          <a:cs typeface="Calibri (MS)"/>
                          <a:sym typeface="Calibri (MS)"/>
                        </a:rPr>
                        <a:t>Black_id</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The username of the black player</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Qualitative (Nominal)</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9"/>
                  </a:ext>
                </a:extLst>
              </a:tr>
              <a:tr h="469900">
                <a:tc>
                  <a:txBody>
                    <a:bodyPr/>
                    <a:lstStyle/>
                    <a:p>
                      <a:pPr algn="l">
                        <a:lnSpc>
                          <a:spcPts val="2400"/>
                        </a:lnSpc>
                        <a:defRPr/>
                      </a:pPr>
                      <a:r>
                        <a:rPr lang="en-US" sz="2000">
                          <a:solidFill>
                            <a:schemeClr val="bg1"/>
                          </a:solidFill>
                          <a:latin typeface="Calibri (MS)"/>
                          <a:ea typeface="Calibri (MS)"/>
                          <a:cs typeface="Calibri (MS)"/>
                          <a:sym typeface="Calibri (MS)"/>
                        </a:rPr>
                        <a:t>Black_rating</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The player’s skill rating before the game</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Quantitative (Discrete)</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10"/>
                  </a:ext>
                </a:extLst>
              </a:tr>
              <a:tr h="469900">
                <a:tc>
                  <a:txBody>
                    <a:bodyPr/>
                    <a:lstStyle/>
                    <a:p>
                      <a:pPr algn="l">
                        <a:lnSpc>
                          <a:spcPts val="2400"/>
                        </a:lnSpc>
                        <a:defRPr/>
                      </a:pPr>
                      <a:r>
                        <a:rPr lang="en-US" sz="2000">
                          <a:solidFill>
                            <a:schemeClr val="bg1"/>
                          </a:solidFill>
                          <a:latin typeface="Calibri (MS)"/>
                          <a:ea typeface="Calibri (MS)"/>
                          <a:cs typeface="Calibri (MS)"/>
                          <a:sym typeface="Calibri (MS)"/>
                        </a:rPr>
                        <a:t>Moves</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The sequence of moves made </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Qualitative (Nominal)</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11"/>
                  </a:ext>
                </a:extLst>
              </a:tr>
              <a:tr h="469900">
                <a:tc>
                  <a:txBody>
                    <a:bodyPr/>
                    <a:lstStyle/>
                    <a:p>
                      <a:pPr algn="l">
                        <a:lnSpc>
                          <a:spcPts val="2400"/>
                        </a:lnSpc>
                        <a:defRPr/>
                      </a:pPr>
                      <a:r>
                        <a:rPr lang="en-US" sz="2000">
                          <a:solidFill>
                            <a:schemeClr val="bg1"/>
                          </a:solidFill>
                          <a:latin typeface="Calibri (MS)"/>
                          <a:ea typeface="Calibri (MS)"/>
                          <a:cs typeface="Calibri (MS)"/>
                          <a:sym typeface="Calibri (MS)"/>
                        </a:rPr>
                        <a:t>Opening_name</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a:solidFill>
                            <a:schemeClr val="bg1"/>
                          </a:solidFill>
                          <a:latin typeface="Calibri (MS)"/>
                          <a:ea typeface="Calibri (MS)"/>
                          <a:cs typeface="Calibri (MS)"/>
                          <a:sym typeface="Calibri (MS)"/>
                        </a:rPr>
                        <a:t>The name of the chess opening used</a:t>
                      </a:r>
                      <a:endParaRPr lang="en-US" sz="110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tc>
                  <a:txBody>
                    <a:bodyPr/>
                    <a:lstStyle/>
                    <a:p>
                      <a:pPr algn="l">
                        <a:lnSpc>
                          <a:spcPts val="2400"/>
                        </a:lnSpc>
                        <a:defRPr/>
                      </a:pPr>
                      <a:r>
                        <a:rPr lang="en-US" sz="2000" dirty="0">
                          <a:solidFill>
                            <a:schemeClr val="bg1"/>
                          </a:solidFill>
                          <a:latin typeface="Calibri (MS)"/>
                          <a:ea typeface="Calibri (MS)"/>
                          <a:cs typeface="Calibri (MS)"/>
                          <a:sym typeface="Calibri (MS)"/>
                        </a:rPr>
                        <a:t>Qualitative (Nominal)</a:t>
                      </a:r>
                      <a:endParaRPr lang="en-US" sz="1100" dirty="0">
                        <a:solidFill>
                          <a:schemeClr val="bg1"/>
                        </a:solidFil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12"/>
                  </a:ext>
                </a:extLst>
              </a:tr>
            </a:tbl>
          </a:graphicData>
        </a:graphic>
      </p:graphicFrame>
      <p:sp>
        <p:nvSpPr>
          <p:cNvPr id="4" name="TextBox 4"/>
          <p:cNvSpPr txBox="1"/>
          <p:nvPr/>
        </p:nvSpPr>
        <p:spPr>
          <a:xfrm>
            <a:off x="1691640" y="2232774"/>
            <a:ext cx="11018520" cy="621563"/>
          </a:xfrm>
          <a:prstGeom prst="rect">
            <a:avLst/>
          </a:prstGeom>
        </p:spPr>
        <p:txBody>
          <a:bodyPr lIns="0" tIns="0" rIns="0" bIns="0" rtlCol="0" anchor="t">
            <a:spAutoFit/>
          </a:bodyPr>
          <a:lstStyle/>
          <a:p>
            <a:pPr algn="l">
              <a:lnSpc>
                <a:spcPts val="4320"/>
              </a:lnSpc>
            </a:pPr>
            <a:r>
              <a:rPr lang="en-US" sz="3600">
                <a:solidFill>
                  <a:srgbClr val="FFFFFF"/>
                </a:solidFill>
                <a:latin typeface="Calibri (MS)"/>
                <a:ea typeface="Calibri (MS)"/>
                <a:cs typeface="Calibri (MS)"/>
                <a:sym typeface="Calibri (MS)"/>
              </a:rPr>
              <a:t>Here is a table that describes each variable and its type. </a:t>
            </a:r>
          </a:p>
        </p:txBody>
      </p:sp>
      <p:sp>
        <p:nvSpPr>
          <p:cNvPr id="6" name="TextBox 5">
            <a:extLst>
              <a:ext uri="{FF2B5EF4-FFF2-40B4-BE49-F238E27FC236}">
                <a16:creationId xmlns:a16="http://schemas.microsoft.com/office/drawing/2014/main" id="{E57628D2-9BE5-DAA6-DDAA-5DEECB8B5943}"/>
              </a:ext>
            </a:extLst>
          </p:cNvPr>
          <p:cNvSpPr txBox="1"/>
          <p:nvPr/>
        </p:nvSpPr>
        <p:spPr>
          <a:xfrm>
            <a:off x="4572000" y="4960540"/>
            <a:ext cx="9144000" cy="369332"/>
          </a:xfrm>
          <a:prstGeom prst="rect">
            <a:avLst/>
          </a:prstGeom>
          <a:noFill/>
        </p:spPr>
        <p:txBody>
          <a:bodyPr wrap="square">
            <a:spAutoFit/>
          </a:bodyPr>
          <a:lstStyle/>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4">
              <a:extLst>
                <a:ext uri="{96DAC541-7B7A-43D3-8B79-37D633B846F1}">
                  <asvg:svgBlip xmlns:asvg="http://schemas.microsoft.com/office/drawing/2016/SVG/main" r:embed="rId5"/>
                </a:ext>
              </a:extLst>
            </a:blip>
            <a:stretch>
              <a:fillRect t="-419" b="-424"/>
            </a:stretch>
          </a:blipFill>
        </p:spPr>
        <p:txBody>
          <a:bodyPr/>
          <a:lstStyle/>
          <a:p>
            <a:endParaRPr lang="en-US"/>
          </a:p>
        </p:txBody>
      </p:sp>
      <p:sp>
        <p:nvSpPr>
          <p:cNvPr id="4" name="TextBox 4"/>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About</a:t>
            </a:r>
          </a:p>
        </p:txBody>
      </p:sp>
      <p:sp>
        <p:nvSpPr>
          <p:cNvPr id="5" name="TextBox 5"/>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Project</a:t>
            </a:r>
          </a:p>
        </p:txBody>
      </p:sp>
      <p:sp>
        <p:nvSpPr>
          <p:cNvPr id="6" name="TextBox 6"/>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7" name="TextBox 7"/>
          <p:cNvSpPr txBox="1"/>
          <p:nvPr/>
        </p:nvSpPr>
        <p:spPr>
          <a:xfrm>
            <a:off x="3647961" y="1552575"/>
            <a:ext cx="10022195" cy="934871"/>
          </a:xfrm>
          <a:prstGeom prst="rect">
            <a:avLst/>
          </a:prstGeom>
        </p:spPr>
        <p:txBody>
          <a:bodyPr lIns="0" tIns="0" rIns="0" bIns="0" rtlCol="0" anchor="t">
            <a:spAutoFit/>
          </a:bodyPr>
          <a:lstStyle/>
          <a:p>
            <a:pPr algn="ctr">
              <a:lnSpc>
                <a:spcPts val="7183"/>
              </a:lnSpc>
            </a:pPr>
            <a:r>
              <a:rPr lang="en-US" sz="6800" dirty="0">
                <a:solidFill>
                  <a:srgbClr val="FFFFFF"/>
                </a:solidFill>
                <a:latin typeface="Archivo Black"/>
                <a:ea typeface="Archivo Black"/>
                <a:cs typeface="Archivo Black"/>
                <a:sym typeface="Archivo Black"/>
              </a:rPr>
              <a:t>Graphical analysis</a:t>
            </a:r>
          </a:p>
        </p:txBody>
      </p:sp>
      <p:sp>
        <p:nvSpPr>
          <p:cNvPr id="9" name="TextBox 9"/>
          <p:cNvSpPr txBox="1"/>
          <p:nvPr/>
        </p:nvSpPr>
        <p:spPr>
          <a:xfrm>
            <a:off x="1120140" y="2607945"/>
            <a:ext cx="3614938" cy="621563"/>
          </a:xfrm>
          <a:prstGeom prst="rect">
            <a:avLst/>
          </a:prstGeom>
        </p:spPr>
        <p:txBody>
          <a:bodyPr lIns="0" tIns="0" rIns="0" bIns="0" rtlCol="0" anchor="t">
            <a:spAutoFit/>
          </a:bodyPr>
          <a:lstStyle/>
          <a:p>
            <a:pPr algn="l">
              <a:lnSpc>
                <a:spcPts val="4320"/>
              </a:lnSpc>
            </a:pPr>
            <a:r>
              <a:rPr lang="en-US" sz="3600">
                <a:solidFill>
                  <a:srgbClr val="FFFFFF"/>
                </a:solidFill>
                <a:latin typeface="Calibri (MS)"/>
                <a:ea typeface="Calibri (MS)"/>
                <a:cs typeface="Calibri (MS)"/>
                <a:sym typeface="Calibri (MS)"/>
              </a:rPr>
              <a:t>1) Rated Games</a:t>
            </a:r>
          </a:p>
        </p:txBody>
      </p:sp>
      <p:sp>
        <p:nvSpPr>
          <p:cNvPr id="10" name="TextBox 10"/>
          <p:cNvSpPr txBox="1"/>
          <p:nvPr/>
        </p:nvSpPr>
        <p:spPr>
          <a:xfrm>
            <a:off x="929640" y="7894320"/>
            <a:ext cx="7793746" cy="1516323"/>
          </a:xfrm>
          <a:prstGeom prst="rect">
            <a:avLst/>
          </a:prstGeom>
        </p:spPr>
        <p:txBody>
          <a:bodyPr lIns="0" tIns="0" rIns="0" bIns="0" rtlCol="0" anchor="t">
            <a:spAutoFit/>
          </a:bodyPr>
          <a:lstStyle/>
          <a:p>
            <a:pPr algn="l">
              <a:lnSpc>
                <a:spcPts val="2879"/>
              </a:lnSpc>
            </a:pPr>
            <a:r>
              <a:rPr lang="en-US" sz="2400">
                <a:solidFill>
                  <a:srgbClr val="FFFFFF"/>
                </a:solidFill>
                <a:latin typeface="Calibri (MS)"/>
                <a:ea typeface="Calibri (MS)"/>
                <a:cs typeface="Calibri (MS)"/>
                <a:sym typeface="Calibri (MS)"/>
              </a:rPr>
              <a:t>The bar chart clearly shows that the vast majority of games in this dataset are rated. Specifically, 80.5% (16,155 games) were played for a rating, while only 19.5% (3,903 games) were casual (unrated) matches.</a:t>
            </a:r>
          </a:p>
        </p:txBody>
      </p:sp>
      <p:sp>
        <p:nvSpPr>
          <p:cNvPr id="11" name="Freeform 11"/>
          <p:cNvSpPr/>
          <p:nvPr/>
        </p:nvSpPr>
        <p:spPr>
          <a:xfrm>
            <a:off x="6686207" y="3967001"/>
            <a:ext cx="4915586" cy="2352999"/>
          </a:xfrm>
          <a:custGeom>
            <a:avLst/>
            <a:gdLst/>
            <a:ahLst/>
            <a:cxnLst/>
            <a:rect l="l" t="t" r="r" b="b"/>
            <a:pathLst>
              <a:path w="4915586" h="2352999">
                <a:moveTo>
                  <a:pt x="0" y="0"/>
                </a:moveTo>
                <a:lnTo>
                  <a:pt x="4915586" y="0"/>
                </a:lnTo>
                <a:lnTo>
                  <a:pt x="4915586" y="2352998"/>
                </a:lnTo>
                <a:lnTo>
                  <a:pt x="0" y="2352998"/>
                </a:lnTo>
                <a:lnTo>
                  <a:pt x="0" y="0"/>
                </a:lnTo>
                <a:close/>
              </a:path>
            </a:pathLst>
          </a:custGeom>
          <a:blipFill>
            <a:blip r:embed="rId6"/>
            <a:stretch>
              <a:fillRect/>
            </a:stretch>
          </a:blipFill>
        </p:spPr>
        <p:txBody>
          <a:bodyPr/>
          <a:lstStyle/>
          <a:p>
            <a:endParaRPr lang="en-US"/>
          </a:p>
        </p:txBody>
      </p:sp>
      <p:sp>
        <p:nvSpPr>
          <p:cNvPr id="13" name="TextBox 13"/>
          <p:cNvSpPr txBox="1"/>
          <p:nvPr/>
        </p:nvSpPr>
        <p:spPr>
          <a:xfrm>
            <a:off x="9748056" y="7791202"/>
            <a:ext cx="7818120" cy="1885655"/>
          </a:xfrm>
          <a:prstGeom prst="rect">
            <a:avLst/>
          </a:prstGeom>
        </p:spPr>
        <p:txBody>
          <a:bodyPr lIns="0" tIns="0" rIns="0" bIns="0" rtlCol="0" anchor="t">
            <a:spAutoFit/>
          </a:bodyPr>
          <a:lstStyle/>
          <a:p>
            <a:pPr algn="l">
              <a:lnSpc>
                <a:spcPts val="2879"/>
              </a:lnSpc>
            </a:pPr>
            <a:r>
              <a:rPr lang="en-US" sz="2400">
                <a:solidFill>
                  <a:srgbClr val="FFFFFF"/>
                </a:solidFill>
                <a:latin typeface="Calibri (MS)"/>
                <a:ea typeface="Calibri (MS)"/>
                <a:cs typeface="Calibri (MS)"/>
                <a:sym typeface="Calibri (MS)"/>
              </a:rPr>
              <a:t>The pie chart visually demonstrates that rated games dominate the dataset, occupying more than three-quarters of the chart (80.5%). The smaller slice representing Unrated games (19.5%) indicates that casual play is much less common than competitive play on this platform.</a:t>
            </a:r>
          </a:p>
        </p:txBody>
      </p:sp>
      <p:sp>
        <p:nvSpPr>
          <p:cNvPr id="16" name="AutoShape 5">
            <a:extLst>
              <a:ext uri="{FF2B5EF4-FFF2-40B4-BE49-F238E27FC236}">
                <a16:creationId xmlns:a16="http://schemas.microsoft.com/office/drawing/2014/main" id="{7135BDDA-21A4-34AA-1BBB-EAA72BC9361A}"/>
              </a:ext>
            </a:extLst>
          </p:cNvPr>
          <p:cNvSpPr>
            <a:spLocks noChangeAspect="1" noChangeArrowheads="1"/>
          </p:cNvSpPr>
          <p:nvPr/>
        </p:nvSpPr>
        <p:spPr bwMode="auto">
          <a:xfrm>
            <a:off x="5105400" y="1104900"/>
            <a:ext cx="4191000" cy="4191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7">
            <a:extLst>
              <a:ext uri="{FF2B5EF4-FFF2-40B4-BE49-F238E27FC236}">
                <a16:creationId xmlns:a16="http://schemas.microsoft.com/office/drawing/2014/main" id="{DFB2AA90-5661-5B48-F2F4-AE8080E0120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9" name="Picture 18">
            <a:extLst>
              <a:ext uri="{FF2B5EF4-FFF2-40B4-BE49-F238E27FC236}">
                <a16:creationId xmlns:a16="http://schemas.microsoft.com/office/drawing/2014/main" id="{26394D88-6199-AD87-6039-CFE0ACE961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9430" y="3436942"/>
            <a:ext cx="6931570" cy="4191363"/>
          </a:xfrm>
          <a:prstGeom prst="rect">
            <a:avLst/>
          </a:prstGeom>
        </p:spPr>
      </p:pic>
      <p:pic>
        <p:nvPicPr>
          <p:cNvPr id="21" name="Picture 20">
            <a:extLst>
              <a:ext uri="{FF2B5EF4-FFF2-40B4-BE49-F238E27FC236}">
                <a16:creationId xmlns:a16="http://schemas.microsoft.com/office/drawing/2014/main" id="{8F23E234-BD24-8127-8481-A010A83B227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05544" y="3436942"/>
            <a:ext cx="7153756" cy="41913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4">
              <a:extLst>
                <a:ext uri="{96DAC541-7B7A-43D3-8B79-37D633B846F1}">
                  <asvg:svgBlip xmlns:asvg="http://schemas.microsoft.com/office/drawing/2016/SVG/main" r:embed="rId5"/>
                </a:ext>
              </a:extLst>
            </a:blip>
            <a:stretch>
              <a:fillRect t="-419" b="-424"/>
            </a:stretch>
          </a:blipFill>
        </p:spPr>
        <p:txBody>
          <a:bodyPr/>
          <a:lstStyle/>
          <a:p>
            <a:endParaRPr lang="en-US"/>
          </a:p>
        </p:txBody>
      </p:sp>
      <p:sp>
        <p:nvSpPr>
          <p:cNvPr id="4" name="TextBox 4"/>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About</a:t>
            </a:r>
          </a:p>
        </p:txBody>
      </p:sp>
      <p:sp>
        <p:nvSpPr>
          <p:cNvPr id="5" name="TextBox 5"/>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Project</a:t>
            </a:r>
          </a:p>
        </p:txBody>
      </p:sp>
      <p:sp>
        <p:nvSpPr>
          <p:cNvPr id="6" name="TextBox 6"/>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7" name="TextBox 7"/>
          <p:cNvSpPr txBox="1"/>
          <p:nvPr/>
        </p:nvSpPr>
        <p:spPr>
          <a:xfrm>
            <a:off x="3647961" y="1552575"/>
            <a:ext cx="10022195" cy="934871"/>
          </a:xfrm>
          <a:prstGeom prst="rect">
            <a:avLst/>
          </a:prstGeom>
        </p:spPr>
        <p:txBody>
          <a:bodyPr lIns="0" tIns="0" rIns="0" bIns="0" rtlCol="0" anchor="t">
            <a:spAutoFit/>
          </a:bodyPr>
          <a:lstStyle/>
          <a:p>
            <a:pPr algn="ctr">
              <a:lnSpc>
                <a:spcPts val="7183"/>
              </a:lnSpc>
            </a:pPr>
            <a:r>
              <a:rPr lang="en-US" sz="6800" dirty="0">
                <a:solidFill>
                  <a:srgbClr val="FFFFFF"/>
                </a:solidFill>
                <a:latin typeface="Archivo Black"/>
                <a:ea typeface="Archivo Black"/>
                <a:cs typeface="Archivo Black"/>
                <a:sym typeface="Archivo Black"/>
              </a:rPr>
              <a:t>Graphical analysis(1)</a:t>
            </a:r>
          </a:p>
        </p:txBody>
      </p:sp>
      <p:sp>
        <p:nvSpPr>
          <p:cNvPr id="8" name="TextBox 8"/>
          <p:cNvSpPr txBox="1"/>
          <p:nvPr/>
        </p:nvSpPr>
        <p:spPr>
          <a:xfrm>
            <a:off x="1120140" y="2607945"/>
            <a:ext cx="3614938" cy="621563"/>
          </a:xfrm>
          <a:prstGeom prst="rect">
            <a:avLst/>
          </a:prstGeom>
        </p:spPr>
        <p:txBody>
          <a:bodyPr lIns="0" tIns="0" rIns="0" bIns="0" rtlCol="0" anchor="t">
            <a:spAutoFit/>
          </a:bodyPr>
          <a:lstStyle/>
          <a:p>
            <a:pPr algn="l">
              <a:lnSpc>
                <a:spcPts val="4320"/>
              </a:lnSpc>
            </a:pPr>
            <a:r>
              <a:rPr lang="en-US" sz="3600">
                <a:solidFill>
                  <a:srgbClr val="FFFFFF"/>
                </a:solidFill>
                <a:latin typeface="Calibri (MS)"/>
                <a:ea typeface="Calibri (MS)"/>
                <a:cs typeface="Calibri (MS)"/>
                <a:sym typeface="Calibri (MS)"/>
              </a:rPr>
              <a:t>2) Turns</a:t>
            </a:r>
          </a:p>
        </p:txBody>
      </p:sp>
      <p:sp>
        <p:nvSpPr>
          <p:cNvPr id="9" name="Freeform 9"/>
          <p:cNvSpPr/>
          <p:nvPr/>
        </p:nvSpPr>
        <p:spPr>
          <a:xfrm>
            <a:off x="6686207" y="3967001"/>
            <a:ext cx="4915586" cy="2352999"/>
          </a:xfrm>
          <a:custGeom>
            <a:avLst/>
            <a:gdLst/>
            <a:ahLst/>
            <a:cxnLst/>
            <a:rect l="l" t="t" r="r" b="b"/>
            <a:pathLst>
              <a:path w="4915586" h="2352999">
                <a:moveTo>
                  <a:pt x="0" y="0"/>
                </a:moveTo>
                <a:lnTo>
                  <a:pt x="4915586" y="0"/>
                </a:lnTo>
                <a:lnTo>
                  <a:pt x="4915586" y="2352998"/>
                </a:lnTo>
                <a:lnTo>
                  <a:pt x="0" y="2352998"/>
                </a:lnTo>
                <a:lnTo>
                  <a:pt x="0" y="0"/>
                </a:lnTo>
                <a:close/>
              </a:path>
            </a:pathLst>
          </a:custGeom>
          <a:blipFill>
            <a:blip r:embed="rId6"/>
            <a:stretch>
              <a:fillRect/>
            </a:stretch>
          </a:blipFill>
        </p:spPr>
        <p:txBody>
          <a:bodyPr/>
          <a:lstStyle/>
          <a:p>
            <a:endParaRPr lang="en-US"/>
          </a:p>
        </p:txBody>
      </p:sp>
      <p:sp>
        <p:nvSpPr>
          <p:cNvPr id="11" name="TextBox 11"/>
          <p:cNvSpPr txBox="1"/>
          <p:nvPr/>
        </p:nvSpPr>
        <p:spPr>
          <a:xfrm>
            <a:off x="1120140" y="7970520"/>
            <a:ext cx="7780020" cy="1885655"/>
          </a:xfrm>
          <a:prstGeom prst="rect">
            <a:avLst/>
          </a:prstGeom>
        </p:spPr>
        <p:txBody>
          <a:bodyPr lIns="0" tIns="0" rIns="0" bIns="0" rtlCol="0" anchor="t">
            <a:spAutoFit/>
          </a:bodyPr>
          <a:lstStyle/>
          <a:p>
            <a:pPr algn="l">
              <a:lnSpc>
                <a:spcPts val="2879"/>
              </a:lnSpc>
            </a:pPr>
            <a:r>
              <a:rPr lang="en-US" sz="2400">
                <a:solidFill>
                  <a:srgbClr val="FFFFFF"/>
                </a:solidFill>
                <a:latin typeface="Calibri (MS)"/>
                <a:ea typeface="Calibri (MS)"/>
                <a:cs typeface="Calibri (MS)"/>
                <a:sym typeface="Calibri (MS)"/>
              </a:rPr>
              <a:t>The histogram is clearly right-skewed, meaning that most chess games are relatively short (peaking around 40-60 moves). However, there is a long tail extending to the right, representing the rare marathon games that last over 150 or 200 moves.</a:t>
            </a:r>
          </a:p>
        </p:txBody>
      </p:sp>
      <p:sp>
        <p:nvSpPr>
          <p:cNvPr id="13" name="TextBox 13"/>
          <p:cNvSpPr txBox="1"/>
          <p:nvPr/>
        </p:nvSpPr>
        <p:spPr>
          <a:xfrm>
            <a:off x="9768840" y="7751616"/>
            <a:ext cx="7589520" cy="2254987"/>
          </a:xfrm>
          <a:prstGeom prst="rect">
            <a:avLst/>
          </a:prstGeom>
        </p:spPr>
        <p:txBody>
          <a:bodyPr lIns="0" tIns="0" rIns="0" bIns="0" rtlCol="0" anchor="t">
            <a:spAutoFit/>
          </a:bodyPr>
          <a:lstStyle/>
          <a:p>
            <a:pPr algn="l">
              <a:lnSpc>
                <a:spcPts val="2879"/>
              </a:lnSpc>
            </a:pPr>
            <a:r>
              <a:rPr lang="en-US" sz="2400">
                <a:solidFill>
                  <a:srgbClr val="FFFFFF"/>
                </a:solidFill>
                <a:latin typeface="Calibri (MS)"/>
                <a:ea typeface="Calibri (MS)"/>
                <a:cs typeface="Calibri (MS)"/>
                <a:sym typeface="Calibri (MS)"/>
              </a:rPr>
              <a:t>The boxplot shows a median game length of 55 turns. The "box" (Interquartile Range) is relatively tight, but there are a significant number of outliers on the upper end. This confirms that while most games finish within a standard range, there are exceptional cases where games continue for a very long time.</a:t>
            </a:r>
          </a:p>
        </p:txBody>
      </p:sp>
      <p:pic>
        <p:nvPicPr>
          <p:cNvPr id="15" name="Picture 14">
            <a:extLst>
              <a:ext uri="{FF2B5EF4-FFF2-40B4-BE49-F238E27FC236}">
                <a16:creationId xmlns:a16="http://schemas.microsoft.com/office/drawing/2014/main" id="{B85CAF26-D332-44B9-13C8-A0B2FE9670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0140" y="3324615"/>
            <a:ext cx="6322374" cy="4191363"/>
          </a:xfrm>
          <a:prstGeom prst="rect">
            <a:avLst/>
          </a:prstGeom>
        </p:spPr>
      </p:pic>
      <p:pic>
        <p:nvPicPr>
          <p:cNvPr id="17" name="Picture 16">
            <a:extLst>
              <a:ext uri="{FF2B5EF4-FFF2-40B4-BE49-F238E27FC236}">
                <a16:creationId xmlns:a16="http://schemas.microsoft.com/office/drawing/2014/main" id="{6B404CC8-29DE-5BEF-C1D9-FC5A4CC8A97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677400" y="3200507"/>
            <a:ext cx="7253468" cy="42864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4">
              <a:extLst>
                <a:ext uri="{96DAC541-7B7A-43D3-8B79-37D633B846F1}">
                  <asvg:svgBlip xmlns:asvg="http://schemas.microsoft.com/office/drawing/2016/SVG/main" r:embed="rId5"/>
                </a:ext>
              </a:extLst>
            </a:blip>
            <a:stretch>
              <a:fillRect t="-419" b="-424"/>
            </a:stretch>
          </a:blipFill>
        </p:spPr>
        <p:txBody>
          <a:bodyPr/>
          <a:lstStyle/>
          <a:p>
            <a:endParaRPr lang="en-US"/>
          </a:p>
        </p:txBody>
      </p:sp>
      <p:sp>
        <p:nvSpPr>
          <p:cNvPr id="4" name="TextBox 4"/>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About</a:t>
            </a:r>
          </a:p>
        </p:txBody>
      </p:sp>
      <p:sp>
        <p:nvSpPr>
          <p:cNvPr id="5" name="TextBox 5"/>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Project</a:t>
            </a:r>
          </a:p>
        </p:txBody>
      </p:sp>
      <p:sp>
        <p:nvSpPr>
          <p:cNvPr id="6" name="TextBox 6"/>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7" name="TextBox 7"/>
          <p:cNvSpPr txBox="1"/>
          <p:nvPr/>
        </p:nvSpPr>
        <p:spPr>
          <a:xfrm>
            <a:off x="3647961" y="1340320"/>
            <a:ext cx="10022195" cy="934871"/>
          </a:xfrm>
          <a:prstGeom prst="rect">
            <a:avLst/>
          </a:prstGeom>
        </p:spPr>
        <p:txBody>
          <a:bodyPr lIns="0" tIns="0" rIns="0" bIns="0" rtlCol="0" anchor="t">
            <a:spAutoFit/>
          </a:bodyPr>
          <a:lstStyle/>
          <a:p>
            <a:pPr algn="ctr">
              <a:lnSpc>
                <a:spcPts val="7183"/>
              </a:lnSpc>
            </a:pPr>
            <a:r>
              <a:rPr lang="en-US" sz="6800" dirty="0">
                <a:solidFill>
                  <a:srgbClr val="FFFFFF"/>
                </a:solidFill>
                <a:latin typeface="Archivo Black"/>
                <a:ea typeface="Archivo Black"/>
                <a:cs typeface="Archivo Black"/>
                <a:sym typeface="Archivo Black"/>
              </a:rPr>
              <a:t>Graphical analysis(2)</a:t>
            </a:r>
          </a:p>
        </p:txBody>
      </p:sp>
      <p:sp>
        <p:nvSpPr>
          <p:cNvPr id="8" name="TextBox 8"/>
          <p:cNvSpPr txBox="1"/>
          <p:nvPr/>
        </p:nvSpPr>
        <p:spPr>
          <a:xfrm>
            <a:off x="1120140" y="2607945"/>
            <a:ext cx="3614938" cy="621563"/>
          </a:xfrm>
          <a:prstGeom prst="rect">
            <a:avLst/>
          </a:prstGeom>
        </p:spPr>
        <p:txBody>
          <a:bodyPr lIns="0" tIns="0" rIns="0" bIns="0" rtlCol="0" anchor="t">
            <a:spAutoFit/>
          </a:bodyPr>
          <a:lstStyle/>
          <a:p>
            <a:pPr algn="l">
              <a:lnSpc>
                <a:spcPts val="4320"/>
              </a:lnSpc>
            </a:pPr>
            <a:r>
              <a:rPr lang="en-US" sz="3600">
                <a:solidFill>
                  <a:srgbClr val="FFFFFF"/>
                </a:solidFill>
                <a:latin typeface="Calibri (MS)"/>
                <a:ea typeface="Calibri (MS)"/>
                <a:cs typeface="Calibri (MS)"/>
                <a:sym typeface="Calibri (MS)"/>
              </a:rPr>
              <a:t>3) Victory_status</a:t>
            </a:r>
          </a:p>
        </p:txBody>
      </p:sp>
      <p:sp>
        <p:nvSpPr>
          <p:cNvPr id="9" name="Freeform 9"/>
          <p:cNvSpPr/>
          <p:nvPr/>
        </p:nvSpPr>
        <p:spPr>
          <a:xfrm>
            <a:off x="6686207" y="3967001"/>
            <a:ext cx="4915586" cy="2352999"/>
          </a:xfrm>
          <a:custGeom>
            <a:avLst/>
            <a:gdLst/>
            <a:ahLst/>
            <a:cxnLst/>
            <a:rect l="l" t="t" r="r" b="b"/>
            <a:pathLst>
              <a:path w="4915586" h="2352999">
                <a:moveTo>
                  <a:pt x="0" y="0"/>
                </a:moveTo>
                <a:lnTo>
                  <a:pt x="4915586" y="0"/>
                </a:lnTo>
                <a:lnTo>
                  <a:pt x="4915586" y="2352998"/>
                </a:lnTo>
                <a:lnTo>
                  <a:pt x="0" y="2352998"/>
                </a:lnTo>
                <a:lnTo>
                  <a:pt x="0" y="0"/>
                </a:lnTo>
                <a:close/>
              </a:path>
            </a:pathLst>
          </a:custGeom>
          <a:blipFill>
            <a:blip r:embed="rId6"/>
            <a:stretch>
              <a:fillRect/>
            </a:stretch>
          </a:blipFill>
        </p:spPr>
        <p:txBody>
          <a:bodyPr/>
          <a:lstStyle/>
          <a:p>
            <a:endParaRPr lang="en-US"/>
          </a:p>
        </p:txBody>
      </p:sp>
      <p:sp>
        <p:nvSpPr>
          <p:cNvPr id="10" name="TextBox 10"/>
          <p:cNvSpPr txBox="1"/>
          <p:nvPr/>
        </p:nvSpPr>
        <p:spPr>
          <a:xfrm>
            <a:off x="936508" y="7853934"/>
            <a:ext cx="7780020" cy="1885655"/>
          </a:xfrm>
          <a:prstGeom prst="rect">
            <a:avLst/>
          </a:prstGeom>
        </p:spPr>
        <p:txBody>
          <a:bodyPr lIns="0" tIns="0" rIns="0" bIns="0" rtlCol="0" anchor="t">
            <a:spAutoFit/>
          </a:bodyPr>
          <a:lstStyle/>
          <a:p>
            <a:pPr algn="l">
              <a:lnSpc>
                <a:spcPts val="2879"/>
              </a:lnSpc>
            </a:pPr>
            <a:r>
              <a:rPr lang="en-US" sz="2400">
                <a:solidFill>
                  <a:srgbClr val="FFFFFF"/>
                </a:solidFill>
                <a:latin typeface="Calibri (MS)"/>
                <a:ea typeface="Calibri (MS)"/>
                <a:cs typeface="Calibri (MS)"/>
                <a:sym typeface="Calibri (MS)"/>
              </a:rPr>
              <a:t>The bar chart shows that Resignation is by far the most common way games end, accounting for over half of all matches (55.6%). Checkmates are the second most common result (31.5%), while games ending by time expiration or a draw are relatively rare.</a:t>
            </a:r>
          </a:p>
        </p:txBody>
      </p:sp>
      <p:sp>
        <p:nvSpPr>
          <p:cNvPr id="11" name="TextBox 11"/>
          <p:cNvSpPr txBox="1"/>
          <p:nvPr/>
        </p:nvSpPr>
        <p:spPr>
          <a:xfrm>
            <a:off x="9768840" y="7853934"/>
            <a:ext cx="7589520" cy="1516323"/>
          </a:xfrm>
          <a:prstGeom prst="rect">
            <a:avLst/>
          </a:prstGeom>
        </p:spPr>
        <p:txBody>
          <a:bodyPr lIns="0" tIns="0" rIns="0" bIns="0" rtlCol="0" anchor="t">
            <a:spAutoFit/>
          </a:bodyPr>
          <a:lstStyle/>
          <a:p>
            <a:pPr algn="l">
              <a:lnSpc>
                <a:spcPts val="2879"/>
              </a:lnSpc>
            </a:pPr>
            <a:r>
              <a:rPr lang="en-US" sz="2400">
                <a:solidFill>
                  <a:srgbClr val="FFFFFF"/>
                </a:solidFill>
                <a:latin typeface="Calibri (MS)"/>
                <a:ea typeface="Calibri (MS)"/>
                <a:cs typeface="Calibri (MS)"/>
                <a:sym typeface="Calibri (MS)"/>
              </a:rPr>
              <a:t>The pie chart illustrates the dominance of decisive results, with the "Resign" and "Mate" slices combined making up 87% of the chart. The small slice for "Draw" (4.5%) highlights that tie games are an uncommon outcome in this dataset.</a:t>
            </a:r>
          </a:p>
        </p:txBody>
      </p:sp>
      <p:pic>
        <p:nvPicPr>
          <p:cNvPr id="15" name="Picture 14">
            <a:extLst>
              <a:ext uri="{FF2B5EF4-FFF2-40B4-BE49-F238E27FC236}">
                <a16:creationId xmlns:a16="http://schemas.microsoft.com/office/drawing/2014/main" id="{0E4DE896-BC6C-B11F-651F-FC9E3EEFBB8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0140" y="3446039"/>
            <a:ext cx="6569009" cy="4191363"/>
          </a:xfrm>
          <a:prstGeom prst="rect">
            <a:avLst/>
          </a:prstGeom>
        </p:spPr>
      </p:pic>
      <p:pic>
        <p:nvPicPr>
          <p:cNvPr id="17" name="Picture 16">
            <a:extLst>
              <a:ext uri="{FF2B5EF4-FFF2-40B4-BE49-F238E27FC236}">
                <a16:creationId xmlns:a16="http://schemas.microsoft.com/office/drawing/2014/main" id="{7D77740E-A589-6F79-A6B8-752C66C4142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68841" y="3446039"/>
            <a:ext cx="6770880" cy="41913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4">
              <a:extLst>
                <a:ext uri="{96DAC541-7B7A-43D3-8B79-37D633B846F1}">
                  <asvg:svgBlip xmlns:asvg="http://schemas.microsoft.com/office/drawing/2016/SVG/main" r:embed="rId5"/>
                </a:ext>
              </a:extLst>
            </a:blip>
            <a:stretch>
              <a:fillRect t="-419" b="-424"/>
            </a:stretch>
          </a:blipFill>
        </p:spPr>
        <p:txBody>
          <a:bodyPr/>
          <a:lstStyle/>
          <a:p>
            <a:endParaRPr lang="en-US"/>
          </a:p>
        </p:txBody>
      </p:sp>
      <p:sp>
        <p:nvSpPr>
          <p:cNvPr id="4" name="TextBox 4"/>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About</a:t>
            </a:r>
          </a:p>
        </p:txBody>
      </p:sp>
      <p:sp>
        <p:nvSpPr>
          <p:cNvPr id="5" name="TextBox 5"/>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Project</a:t>
            </a:r>
          </a:p>
        </p:txBody>
      </p:sp>
      <p:sp>
        <p:nvSpPr>
          <p:cNvPr id="6" name="TextBox 6"/>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7" name="TextBox 7"/>
          <p:cNvSpPr txBox="1"/>
          <p:nvPr/>
        </p:nvSpPr>
        <p:spPr>
          <a:xfrm>
            <a:off x="3647961" y="1340320"/>
            <a:ext cx="10022195" cy="934871"/>
          </a:xfrm>
          <a:prstGeom prst="rect">
            <a:avLst/>
          </a:prstGeom>
        </p:spPr>
        <p:txBody>
          <a:bodyPr lIns="0" tIns="0" rIns="0" bIns="0" rtlCol="0" anchor="t">
            <a:spAutoFit/>
          </a:bodyPr>
          <a:lstStyle/>
          <a:p>
            <a:pPr algn="ctr">
              <a:lnSpc>
                <a:spcPts val="7183"/>
              </a:lnSpc>
            </a:pPr>
            <a:r>
              <a:rPr lang="en-US" sz="6800" dirty="0">
                <a:solidFill>
                  <a:srgbClr val="FFFFFF"/>
                </a:solidFill>
                <a:latin typeface="Archivo Black"/>
                <a:ea typeface="Archivo Black"/>
                <a:cs typeface="Archivo Black"/>
                <a:sym typeface="Archivo Black"/>
              </a:rPr>
              <a:t>Graphical analysis(3)</a:t>
            </a:r>
          </a:p>
        </p:txBody>
      </p:sp>
      <p:sp>
        <p:nvSpPr>
          <p:cNvPr id="8" name="TextBox 8"/>
          <p:cNvSpPr txBox="1"/>
          <p:nvPr/>
        </p:nvSpPr>
        <p:spPr>
          <a:xfrm>
            <a:off x="1120140" y="2607945"/>
            <a:ext cx="3614938" cy="621563"/>
          </a:xfrm>
          <a:prstGeom prst="rect">
            <a:avLst/>
          </a:prstGeom>
        </p:spPr>
        <p:txBody>
          <a:bodyPr lIns="0" tIns="0" rIns="0" bIns="0" rtlCol="0" anchor="t">
            <a:spAutoFit/>
          </a:bodyPr>
          <a:lstStyle/>
          <a:p>
            <a:pPr algn="l">
              <a:lnSpc>
                <a:spcPts val="4320"/>
              </a:lnSpc>
            </a:pPr>
            <a:r>
              <a:rPr lang="en-US" sz="3600">
                <a:solidFill>
                  <a:srgbClr val="FFFFFF"/>
                </a:solidFill>
                <a:latin typeface="Calibri (MS)"/>
                <a:ea typeface="Calibri (MS)"/>
                <a:cs typeface="Calibri (MS)"/>
                <a:sym typeface="Calibri (MS)"/>
              </a:rPr>
              <a:t>4) Winner</a:t>
            </a:r>
          </a:p>
        </p:txBody>
      </p:sp>
      <p:sp>
        <p:nvSpPr>
          <p:cNvPr id="9" name="Freeform 9"/>
          <p:cNvSpPr/>
          <p:nvPr/>
        </p:nvSpPr>
        <p:spPr>
          <a:xfrm>
            <a:off x="6686207" y="3967001"/>
            <a:ext cx="4915586" cy="2352999"/>
          </a:xfrm>
          <a:custGeom>
            <a:avLst/>
            <a:gdLst/>
            <a:ahLst/>
            <a:cxnLst/>
            <a:rect l="l" t="t" r="r" b="b"/>
            <a:pathLst>
              <a:path w="4915586" h="2352999">
                <a:moveTo>
                  <a:pt x="0" y="0"/>
                </a:moveTo>
                <a:lnTo>
                  <a:pt x="4915586" y="0"/>
                </a:lnTo>
                <a:lnTo>
                  <a:pt x="4915586" y="2352998"/>
                </a:lnTo>
                <a:lnTo>
                  <a:pt x="0" y="2352998"/>
                </a:lnTo>
                <a:lnTo>
                  <a:pt x="0" y="0"/>
                </a:lnTo>
                <a:close/>
              </a:path>
            </a:pathLst>
          </a:custGeom>
          <a:blipFill>
            <a:blip r:embed="rId6"/>
            <a:stretch>
              <a:fillRect/>
            </a:stretch>
          </a:blipFill>
        </p:spPr>
        <p:txBody>
          <a:bodyPr/>
          <a:lstStyle/>
          <a:p>
            <a:endParaRPr lang="en-US"/>
          </a:p>
        </p:txBody>
      </p:sp>
      <p:sp>
        <p:nvSpPr>
          <p:cNvPr id="10" name="TextBox 10"/>
          <p:cNvSpPr txBox="1"/>
          <p:nvPr/>
        </p:nvSpPr>
        <p:spPr>
          <a:xfrm>
            <a:off x="936508" y="7853934"/>
            <a:ext cx="7780020" cy="1516323"/>
          </a:xfrm>
          <a:prstGeom prst="rect">
            <a:avLst/>
          </a:prstGeom>
        </p:spPr>
        <p:txBody>
          <a:bodyPr lIns="0" tIns="0" rIns="0" bIns="0" rtlCol="0" anchor="t">
            <a:spAutoFit/>
          </a:bodyPr>
          <a:lstStyle/>
          <a:p>
            <a:pPr algn="l">
              <a:lnSpc>
                <a:spcPts val="2879"/>
              </a:lnSpc>
            </a:pPr>
            <a:r>
              <a:rPr lang="en-US" sz="2400">
                <a:solidFill>
                  <a:srgbClr val="FFFFFF"/>
                </a:solidFill>
                <a:latin typeface="Calibri (MS)"/>
                <a:ea typeface="Calibri (MS)"/>
                <a:cs typeface="Calibri (MS)"/>
                <a:sym typeface="Calibri (MS)"/>
              </a:rPr>
              <a:t>The bar chart illustrates that White wins slightly more frequently than Black, with White securing 49.9% of victories compared to Black's 45.4%. Draws are the least common outcome, occurring in only 4.7% of the games.</a:t>
            </a:r>
          </a:p>
        </p:txBody>
      </p:sp>
      <p:sp>
        <p:nvSpPr>
          <p:cNvPr id="11" name="TextBox 11"/>
          <p:cNvSpPr txBox="1"/>
          <p:nvPr/>
        </p:nvSpPr>
        <p:spPr>
          <a:xfrm>
            <a:off x="9673590" y="7669263"/>
            <a:ext cx="7589520" cy="1885655"/>
          </a:xfrm>
          <a:prstGeom prst="rect">
            <a:avLst/>
          </a:prstGeom>
        </p:spPr>
        <p:txBody>
          <a:bodyPr lIns="0" tIns="0" rIns="0" bIns="0" rtlCol="0" anchor="t">
            <a:spAutoFit/>
          </a:bodyPr>
          <a:lstStyle/>
          <a:p>
            <a:pPr algn="l">
              <a:lnSpc>
                <a:spcPts val="2879"/>
              </a:lnSpc>
            </a:pPr>
            <a:r>
              <a:rPr lang="en-US" sz="2400">
                <a:solidFill>
                  <a:srgbClr val="FFFFFF"/>
                </a:solidFill>
                <a:latin typeface="Calibri (MS)"/>
                <a:ea typeface="Calibri (MS)"/>
                <a:cs typeface="Calibri (MS)"/>
                <a:sym typeface="Calibri (MS)"/>
              </a:rPr>
              <a:t>The pie chart visually confirms that decisive results (wins for either White or Black) dominate the dataset. The slices for White and Black are nearly equal in size, while the small slice for Draws highlights that tie games are relatively rare in this level of play.</a:t>
            </a:r>
          </a:p>
        </p:txBody>
      </p:sp>
      <p:pic>
        <p:nvPicPr>
          <p:cNvPr id="15" name="Picture 14">
            <a:extLst>
              <a:ext uri="{FF2B5EF4-FFF2-40B4-BE49-F238E27FC236}">
                <a16:creationId xmlns:a16="http://schemas.microsoft.com/office/drawing/2014/main" id="{D2D5555C-7FDB-55E1-51C0-52DE4B068C9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0140" y="3330505"/>
            <a:ext cx="6569009" cy="4191363"/>
          </a:xfrm>
          <a:prstGeom prst="rect">
            <a:avLst/>
          </a:prstGeom>
        </p:spPr>
      </p:pic>
      <p:pic>
        <p:nvPicPr>
          <p:cNvPr id="17" name="Picture 16">
            <a:extLst>
              <a:ext uri="{FF2B5EF4-FFF2-40B4-BE49-F238E27FC236}">
                <a16:creationId xmlns:a16="http://schemas.microsoft.com/office/drawing/2014/main" id="{388F2C73-94B3-4595-9172-94D6AC24C84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673590" y="3330505"/>
            <a:ext cx="7090410" cy="41913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4">
              <a:extLst>
                <a:ext uri="{96DAC541-7B7A-43D3-8B79-37D633B846F1}">
                  <asvg:svgBlip xmlns:asvg="http://schemas.microsoft.com/office/drawing/2016/SVG/main" r:embed="rId5"/>
                </a:ext>
              </a:extLst>
            </a:blip>
            <a:stretch>
              <a:fillRect t="-419" b="-424"/>
            </a:stretch>
          </a:blipFill>
        </p:spPr>
        <p:txBody>
          <a:bodyPr/>
          <a:lstStyle/>
          <a:p>
            <a:endParaRPr lang="en-US"/>
          </a:p>
        </p:txBody>
      </p:sp>
      <p:sp>
        <p:nvSpPr>
          <p:cNvPr id="4" name="TextBox 4"/>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About</a:t>
            </a:r>
          </a:p>
        </p:txBody>
      </p:sp>
      <p:sp>
        <p:nvSpPr>
          <p:cNvPr id="5" name="TextBox 5"/>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Project</a:t>
            </a:r>
          </a:p>
        </p:txBody>
      </p:sp>
      <p:sp>
        <p:nvSpPr>
          <p:cNvPr id="6" name="TextBox 6"/>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7" name="TextBox 7"/>
          <p:cNvSpPr txBox="1"/>
          <p:nvPr/>
        </p:nvSpPr>
        <p:spPr>
          <a:xfrm>
            <a:off x="3647961" y="1340320"/>
            <a:ext cx="10022195" cy="934871"/>
          </a:xfrm>
          <a:prstGeom prst="rect">
            <a:avLst/>
          </a:prstGeom>
        </p:spPr>
        <p:txBody>
          <a:bodyPr lIns="0" tIns="0" rIns="0" bIns="0" rtlCol="0" anchor="t">
            <a:spAutoFit/>
          </a:bodyPr>
          <a:lstStyle/>
          <a:p>
            <a:pPr algn="ctr">
              <a:lnSpc>
                <a:spcPts val="7183"/>
              </a:lnSpc>
            </a:pPr>
            <a:r>
              <a:rPr lang="en-US" sz="6800" dirty="0">
                <a:solidFill>
                  <a:srgbClr val="FFFFFF"/>
                </a:solidFill>
                <a:latin typeface="Archivo Black"/>
                <a:ea typeface="Archivo Black"/>
                <a:cs typeface="Archivo Black"/>
                <a:sym typeface="Archivo Black"/>
              </a:rPr>
              <a:t>Graphical analysis(4)</a:t>
            </a:r>
          </a:p>
        </p:txBody>
      </p:sp>
      <p:sp>
        <p:nvSpPr>
          <p:cNvPr id="8" name="TextBox 8"/>
          <p:cNvSpPr txBox="1"/>
          <p:nvPr/>
        </p:nvSpPr>
        <p:spPr>
          <a:xfrm>
            <a:off x="1120140" y="2607945"/>
            <a:ext cx="3614938" cy="621563"/>
          </a:xfrm>
          <a:prstGeom prst="rect">
            <a:avLst/>
          </a:prstGeom>
        </p:spPr>
        <p:txBody>
          <a:bodyPr lIns="0" tIns="0" rIns="0" bIns="0" rtlCol="0" anchor="t">
            <a:spAutoFit/>
          </a:bodyPr>
          <a:lstStyle/>
          <a:p>
            <a:pPr algn="l">
              <a:lnSpc>
                <a:spcPts val="4320"/>
              </a:lnSpc>
            </a:pPr>
            <a:r>
              <a:rPr lang="en-US" sz="3600">
                <a:solidFill>
                  <a:srgbClr val="FFFFFF"/>
                </a:solidFill>
                <a:latin typeface="Calibri (MS)"/>
                <a:ea typeface="Calibri (MS)"/>
                <a:cs typeface="Calibri (MS)"/>
                <a:sym typeface="Calibri (MS)"/>
              </a:rPr>
              <a:t>5) Increment_code</a:t>
            </a:r>
          </a:p>
        </p:txBody>
      </p:sp>
      <p:sp>
        <p:nvSpPr>
          <p:cNvPr id="9" name="Freeform 9"/>
          <p:cNvSpPr/>
          <p:nvPr/>
        </p:nvSpPr>
        <p:spPr>
          <a:xfrm>
            <a:off x="6686207" y="3967001"/>
            <a:ext cx="4915586" cy="2352999"/>
          </a:xfrm>
          <a:custGeom>
            <a:avLst/>
            <a:gdLst/>
            <a:ahLst/>
            <a:cxnLst/>
            <a:rect l="l" t="t" r="r" b="b"/>
            <a:pathLst>
              <a:path w="4915586" h="2352999">
                <a:moveTo>
                  <a:pt x="0" y="0"/>
                </a:moveTo>
                <a:lnTo>
                  <a:pt x="4915586" y="0"/>
                </a:lnTo>
                <a:lnTo>
                  <a:pt x="4915586" y="2352998"/>
                </a:lnTo>
                <a:lnTo>
                  <a:pt x="0" y="2352998"/>
                </a:lnTo>
                <a:lnTo>
                  <a:pt x="0" y="0"/>
                </a:lnTo>
                <a:close/>
              </a:path>
            </a:pathLst>
          </a:custGeom>
          <a:blipFill>
            <a:blip r:embed="rId6"/>
            <a:stretch>
              <a:fillRect/>
            </a:stretch>
          </a:blipFill>
        </p:spPr>
        <p:txBody>
          <a:bodyPr/>
          <a:lstStyle/>
          <a:p>
            <a:endParaRPr lang="en-US"/>
          </a:p>
        </p:txBody>
      </p:sp>
      <p:sp>
        <p:nvSpPr>
          <p:cNvPr id="10" name="TextBox 10"/>
          <p:cNvSpPr txBox="1"/>
          <p:nvPr/>
        </p:nvSpPr>
        <p:spPr>
          <a:xfrm>
            <a:off x="4752575" y="7894320"/>
            <a:ext cx="7780020" cy="1516323"/>
          </a:xfrm>
          <a:prstGeom prst="rect">
            <a:avLst/>
          </a:prstGeom>
        </p:spPr>
        <p:txBody>
          <a:bodyPr lIns="0" tIns="0" rIns="0" bIns="0" rtlCol="0" anchor="t">
            <a:spAutoFit/>
          </a:bodyPr>
          <a:lstStyle/>
          <a:p>
            <a:pPr algn="l">
              <a:lnSpc>
                <a:spcPts val="2879"/>
              </a:lnSpc>
            </a:pPr>
            <a:r>
              <a:rPr lang="en-US" sz="2400">
                <a:solidFill>
                  <a:srgbClr val="FFFFFF"/>
                </a:solidFill>
                <a:latin typeface="Calibri (MS)"/>
                <a:ea typeface="Calibri (MS)"/>
                <a:cs typeface="Calibri (MS)"/>
                <a:sym typeface="Calibri (MS)"/>
              </a:rPr>
              <a:t>The bar chart highlights that the 10+0 time control (10 minutes with no increment) is the overwhelmingly favorite format, accounting for nearly 38.5% of all games. Other formats like 15+0 and 15+15 are significantly less common.</a:t>
            </a:r>
          </a:p>
        </p:txBody>
      </p:sp>
      <p:pic>
        <p:nvPicPr>
          <p:cNvPr id="13" name="Picture 12">
            <a:extLst>
              <a:ext uri="{FF2B5EF4-FFF2-40B4-BE49-F238E27FC236}">
                <a16:creationId xmlns:a16="http://schemas.microsoft.com/office/drawing/2014/main" id="{B60D42A7-83C5-9E6D-CE58-FFC3F06BACD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72000" y="3390900"/>
            <a:ext cx="7960595" cy="41913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4">
              <a:extLst>
                <a:ext uri="{96DAC541-7B7A-43D3-8B79-37D633B846F1}">
                  <asvg:svgBlip xmlns:asvg="http://schemas.microsoft.com/office/drawing/2016/SVG/main" r:embed="rId5"/>
                </a:ext>
              </a:extLst>
            </a:blip>
            <a:stretch>
              <a:fillRect t="-419" b="-424"/>
            </a:stretch>
          </a:blipFill>
        </p:spPr>
        <p:txBody>
          <a:bodyPr/>
          <a:lstStyle/>
          <a:p>
            <a:endParaRPr lang="en-US"/>
          </a:p>
        </p:txBody>
      </p:sp>
      <p:sp>
        <p:nvSpPr>
          <p:cNvPr id="4" name="TextBox 4"/>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About</a:t>
            </a:r>
          </a:p>
        </p:txBody>
      </p:sp>
      <p:sp>
        <p:nvSpPr>
          <p:cNvPr id="5" name="TextBox 5"/>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Project</a:t>
            </a:r>
          </a:p>
        </p:txBody>
      </p:sp>
      <p:sp>
        <p:nvSpPr>
          <p:cNvPr id="6" name="TextBox 6"/>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7" name="TextBox 7"/>
          <p:cNvSpPr txBox="1"/>
          <p:nvPr/>
        </p:nvSpPr>
        <p:spPr>
          <a:xfrm>
            <a:off x="3647961" y="1340320"/>
            <a:ext cx="10022195" cy="934871"/>
          </a:xfrm>
          <a:prstGeom prst="rect">
            <a:avLst/>
          </a:prstGeom>
        </p:spPr>
        <p:txBody>
          <a:bodyPr lIns="0" tIns="0" rIns="0" bIns="0" rtlCol="0" anchor="t">
            <a:spAutoFit/>
          </a:bodyPr>
          <a:lstStyle/>
          <a:p>
            <a:pPr algn="ctr">
              <a:lnSpc>
                <a:spcPts val="7183"/>
              </a:lnSpc>
            </a:pPr>
            <a:r>
              <a:rPr lang="en-US" sz="6800" dirty="0">
                <a:solidFill>
                  <a:srgbClr val="FFFFFF"/>
                </a:solidFill>
                <a:latin typeface="Archivo Black"/>
                <a:ea typeface="Archivo Black"/>
                <a:cs typeface="Archivo Black"/>
                <a:sym typeface="Archivo Black"/>
              </a:rPr>
              <a:t>Graphical analysis(5)</a:t>
            </a:r>
          </a:p>
        </p:txBody>
      </p:sp>
      <p:sp>
        <p:nvSpPr>
          <p:cNvPr id="8" name="TextBox 8"/>
          <p:cNvSpPr txBox="1"/>
          <p:nvPr/>
        </p:nvSpPr>
        <p:spPr>
          <a:xfrm>
            <a:off x="1120140" y="2607945"/>
            <a:ext cx="3614938" cy="621563"/>
          </a:xfrm>
          <a:prstGeom prst="rect">
            <a:avLst/>
          </a:prstGeom>
        </p:spPr>
        <p:txBody>
          <a:bodyPr lIns="0" tIns="0" rIns="0" bIns="0" rtlCol="0" anchor="t">
            <a:spAutoFit/>
          </a:bodyPr>
          <a:lstStyle/>
          <a:p>
            <a:pPr algn="l">
              <a:lnSpc>
                <a:spcPts val="4320"/>
              </a:lnSpc>
            </a:pPr>
            <a:r>
              <a:rPr lang="en-US" sz="3600">
                <a:solidFill>
                  <a:srgbClr val="FFFFFF"/>
                </a:solidFill>
                <a:latin typeface="Calibri (MS)"/>
                <a:ea typeface="Calibri (MS)"/>
                <a:cs typeface="Calibri (MS)"/>
                <a:sym typeface="Calibri (MS)"/>
              </a:rPr>
              <a:t>6) White_rating</a:t>
            </a:r>
          </a:p>
        </p:txBody>
      </p:sp>
      <p:sp>
        <p:nvSpPr>
          <p:cNvPr id="9" name="Freeform 9"/>
          <p:cNvSpPr/>
          <p:nvPr/>
        </p:nvSpPr>
        <p:spPr>
          <a:xfrm>
            <a:off x="6686207" y="3967001"/>
            <a:ext cx="4915586" cy="2352999"/>
          </a:xfrm>
          <a:custGeom>
            <a:avLst/>
            <a:gdLst/>
            <a:ahLst/>
            <a:cxnLst/>
            <a:rect l="l" t="t" r="r" b="b"/>
            <a:pathLst>
              <a:path w="4915586" h="2352999">
                <a:moveTo>
                  <a:pt x="0" y="0"/>
                </a:moveTo>
                <a:lnTo>
                  <a:pt x="4915586" y="0"/>
                </a:lnTo>
                <a:lnTo>
                  <a:pt x="4915586" y="2352998"/>
                </a:lnTo>
                <a:lnTo>
                  <a:pt x="0" y="2352998"/>
                </a:lnTo>
                <a:lnTo>
                  <a:pt x="0" y="0"/>
                </a:lnTo>
                <a:close/>
              </a:path>
            </a:pathLst>
          </a:custGeom>
          <a:blipFill>
            <a:blip r:embed="rId6"/>
            <a:stretch>
              <a:fillRect/>
            </a:stretch>
          </a:blipFill>
        </p:spPr>
        <p:txBody>
          <a:bodyPr/>
          <a:lstStyle/>
          <a:p>
            <a:endParaRPr lang="en-US"/>
          </a:p>
        </p:txBody>
      </p:sp>
      <p:sp>
        <p:nvSpPr>
          <p:cNvPr id="10" name="TextBox 10"/>
          <p:cNvSpPr txBox="1"/>
          <p:nvPr/>
        </p:nvSpPr>
        <p:spPr>
          <a:xfrm>
            <a:off x="1085507" y="7681417"/>
            <a:ext cx="7780020" cy="1516323"/>
          </a:xfrm>
          <a:prstGeom prst="rect">
            <a:avLst/>
          </a:prstGeom>
        </p:spPr>
        <p:txBody>
          <a:bodyPr lIns="0" tIns="0" rIns="0" bIns="0" rtlCol="0" anchor="t">
            <a:spAutoFit/>
          </a:bodyPr>
          <a:lstStyle/>
          <a:p>
            <a:pPr algn="l">
              <a:lnSpc>
                <a:spcPts val="2879"/>
              </a:lnSpc>
            </a:pPr>
            <a:r>
              <a:rPr lang="en-US" sz="2400">
                <a:solidFill>
                  <a:srgbClr val="FFFFFF"/>
                </a:solidFill>
                <a:latin typeface="Calibri (MS)"/>
                <a:ea typeface="Calibri (MS)"/>
                <a:cs typeface="Calibri (MS)"/>
                <a:sym typeface="Calibri (MS)"/>
              </a:rPr>
              <a:t>The histogram shows a slightly right-skewed distribution. While the peak is around the 1500 range, the tail extends further to the right, indicating that there are more extremely high-rated players than extremely low-rated ones.</a:t>
            </a:r>
          </a:p>
        </p:txBody>
      </p:sp>
      <p:sp>
        <p:nvSpPr>
          <p:cNvPr id="13" name="TextBox 13"/>
          <p:cNvSpPr txBox="1"/>
          <p:nvPr/>
        </p:nvSpPr>
        <p:spPr>
          <a:xfrm>
            <a:off x="10226040" y="7524988"/>
            <a:ext cx="7360920" cy="1885655"/>
          </a:xfrm>
          <a:prstGeom prst="rect">
            <a:avLst/>
          </a:prstGeom>
        </p:spPr>
        <p:txBody>
          <a:bodyPr lIns="0" tIns="0" rIns="0" bIns="0" rtlCol="0" anchor="t">
            <a:spAutoFit/>
          </a:bodyPr>
          <a:lstStyle/>
          <a:p>
            <a:pPr algn="l">
              <a:lnSpc>
                <a:spcPts val="2879"/>
              </a:lnSpc>
            </a:pPr>
            <a:r>
              <a:rPr lang="en-US" sz="2400">
                <a:solidFill>
                  <a:srgbClr val="FFFFFF"/>
                </a:solidFill>
                <a:latin typeface="Calibri (MS)"/>
                <a:ea typeface="Calibri (MS)"/>
                <a:cs typeface="Calibri (MS)"/>
                <a:sym typeface="Calibri (MS)"/>
              </a:rPr>
              <a:t>The boxplot displays a median rating of 1567. The interquartile range (the box) is relatively compact. Still, there are significant outliers on both the high and low ends, representing the very beginners (min 784) and the grandmaster-level players (max 2700).</a:t>
            </a:r>
          </a:p>
        </p:txBody>
      </p:sp>
      <p:pic>
        <p:nvPicPr>
          <p:cNvPr id="15" name="Picture 14">
            <a:extLst>
              <a:ext uri="{FF2B5EF4-FFF2-40B4-BE49-F238E27FC236}">
                <a16:creationId xmlns:a16="http://schemas.microsoft.com/office/drawing/2014/main" id="{AAA0338E-098F-C4EB-6818-E5FB4F46BAB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202611" y="3229508"/>
            <a:ext cx="6569009" cy="4191363"/>
          </a:xfrm>
          <a:prstGeom prst="rect">
            <a:avLst/>
          </a:prstGeom>
        </p:spPr>
      </p:pic>
      <p:pic>
        <p:nvPicPr>
          <p:cNvPr id="17" name="Picture 16">
            <a:extLst>
              <a:ext uri="{FF2B5EF4-FFF2-40B4-BE49-F238E27FC236}">
                <a16:creationId xmlns:a16="http://schemas.microsoft.com/office/drawing/2014/main" id="{DAAB16DC-DD15-0843-F71D-CE686448194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46298" y="3220978"/>
            <a:ext cx="6569009" cy="41913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4">
              <a:extLst>
                <a:ext uri="{96DAC541-7B7A-43D3-8B79-37D633B846F1}">
                  <asvg:svgBlip xmlns:asvg="http://schemas.microsoft.com/office/drawing/2016/SVG/main" r:embed="rId5"/>
                </a:ext>
              </a:extLst>
            </a:blip>
            <a:stretch>
              <a:fillRect t="-419" b="-424"/>
            </a:stretch>
          </a:blipFill>
        </p:spPr>
        <p:txBody>
          <a:bodyPr/>
          <a:lstStyle/>
          <a:p>
            <a:endParaRPr lang="en-US"/>
          </a:p>
        </p:txBody>
      </p:sp>
      <p:sp>
        <p:nvSpPr>
          <p:cNvPr id="4" name="TextBox 4"/>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About</a:t>
            </a:r>
          </a:p>
        </p:txBody>
      </p:sp>
      <p:sp>
        <p:nvSpPr>
          <p:cNvPr id="5" name="TextBox 5"/>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Project</a:t>
            </a:r>
          </a:p>
        </p:txBody>
      </p:sp>
      <p:sp>
        <p:nvSpPr>
          <p:cNvPr id="6" name="TextBox 6"/>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7" name="TextBox 7"/>
          <p:cNvSpPr txBox="1"/>
          <p:nvPr/>
        </p:nvSpPr>
        <p:spPr>
          <a:xfrm>
            <a:off x="3647961" y="1340320"/>
            <a:ext cx="10022195" cy="934871"/>
          </a:xfrm>
          <a:prstGeom prst="rect">
            <a:avLst/>
          </a:prstGeom>
        </p:spPr>
        <p:txBody>
          <a:bodyPr lIns="0" tIns="0" rIns="0" bIns="0" rtlCol="0" anchor="t">
            <a:spAutoFit/>
          </a:bodyPr>
          <a:lstStyle/>
          <a:p>
            <a:pPr algn="ctr">
              <a:lnSpc>
                <a:spcPts val="7183"/>
              </a:lnSpc>
            </a:pPr>
            <a:r>
              <a:rPr lang="en-US" sz="6800" dirty="0">
                <a:solidFill>
                  <a:srgbClr val="FFFFFF"/>
                </a:solidFill>
                <a:latin typeface="Archivo Black"/>
                <a:ea typeface="Archivo Black"/>
                <a:cs typeface="Archivo Black"/>
                <a:sym typeface="Archivo Black"/>
              </a:rPr>
              <a:t>Graphical analysis(6)</a:t>
            </a:r>
          </a:p>
        </p:txBody>
      </p:sp>
      <p:sp>
        <p:nvSpPr>
          <p:cNvPr id="8" name="TextBox 8"/>
          <p:cNvSpPr txBox="1"/>
          <p:nvPr/>
        </p:nvSpPr>
        <p:spPr>
          <a:xfrm>
            <a:off x="1120140" y="2607945"/>
            <a:ext cx="3614938" cy="621563"/>
          </a:xfrm>
          <a:prstGeom prst="rect">
            <a:avLst/>
          </a:prstGeom>
        </p:spPr>
        <p:txBody>
          <a:bodyPr lIns="0" tIns="0" rIns="0" bIns="0" rtlCol="0" anchor="t">
            <a:spAutoFit/>
          </a:bodyPr>
          <a:lstStyle/>
          <a:p>
            <a:pPr algn="l">
              <a:lnSpc>
                <a:spcPts val="4320"/>
              </a:lnSpc>
            </a:pPr>
            <a:r>
              <a:rPr lang="en-US" sz="3600">
                <a:solidFill>
                  <a:srgbClr val="FFFFFF"/>
                </a:solidFill>
                <a:latin typeface="Calibri (MS)"/>
                <a:ea typeface="Calibri (MS)"/>
                <a:cs typeface="Calibri (MS)"/>
                <a:sym typeface="Calibri (MS)"/>
              </a:rPr>
              <a:t>7) Black_rating</a:t>
            </a:r>
          </a:p>
        </p:txBody>
      </p:sp>
      <p:sp>
        <p:nvSpPr>
          <p:cNvPr id="9" name="Freeform 9"/>
          <p:cNvSpPr/>
          <p:nvPr/>
        </p:nvSpPr>
        <p:spPr>
          <a:xfrm>
            <a:off x="6686207" y="3967001"/>
            <a:ext cx="4915586" cy="2352999"/>
          </a:xfrm>
          <a:custGeom>
            <a:avLst/>
            <a:gdLst/>
            <a:ahLst/>
            <a:cxnLst/>
            <a:rect l="l" t="t" r="r" b="b"/>
            <a:pathLst>
              <a:path w="4915586" h="2352999">
                <a:moveTo>
                  <a:pt x="0" y="0"/>
                </a:moveTo>
                <a:lnTo>
                  <a:pt x="4915586" y="0"/>
                </a:lnTo>
                <a:lnTo>
                  <a:pt x="4915586" y="2352998"/>
                </a:lnTo>
                <a:lnTo>
                  <a:pt x="0" y="2352998"/>
                </a:lnTo>
                <a:lnTo>
                  <a:pt x="0" y="0"/>
                </a:lnTo>
                <a:close/>
              </a:path>
            </a:pathLst>
          </a:custGeom>
          <a:blipFill>
            <a:blip r:embed="rId6"/>
            <a:stretch>
              <a:fillRect/>
            </a:stretch>
          </a:blipFill>
        </p:spPr>
        <p:txBody>
          <a:bodyPr/>
          <a:lstStyle/>
          <a:p>
            <a:endParaRPr lang="en-US"/>
          </a:p>
        </p:txBody>
      </p:sp>
      <p:sp>
        <p:nvSpPr>
          <p:cNvPr id="10" name="TextBox 10"/>
          <p:cNvSpPr txBox="1"/>
          <p:nvPr/>
        </p:nvSpPr>
        <p:spPr>
          <a:xfrm>
            <a:off x="1085507" y="7681417"/>
            <a:ext cx="7780020" cy="1516323"/>
          </a:xfrm>
          <a:prstGeom prst="rect">
            <a:avLst/>
          </a:prstGeom>
        </p:spPr>
        <p:txBody>
          <a:bodyPr lIns="0" tIns="0" rIns="0" bIns="0" rtlCol="0" anchor="t">
            <a:spAutoFit/>
          </a:bodyPr>
          <a:lstStyle/>
          <a:p>
            <a:pPr algn="l">
              <a:lnSpc>
                <a:spcPts val="2879"/>
              </a:lnSpc>
            </a:pPr>
            <a:r>
              <a:rPr lang="en-US" sz="2400">
                <a:solidFill>
                  <a:srgbClr val="FFFFFF"/>
                </a:solidFill>
                <a:latin typeface="Calibri (MS)"/>
                <a:ea typeface="Calibri (MS)"/>
                <a:cs typeface="Calibri (MS)"/>
                <a:sym typeface="Calibri (MS)"/>
              </a:rPr>
              <a:t>The histogram shows a right-skewed distribution, similar to the white ratings. The peak frequency is around the 1500 mark, but the tail extending to the right indicates a smaller population of significantly higher-rated players.</a:t>
            </a:r>
          </a:p>
        </p:txBody>
      </p:sp>
      <p:sp>
        <p:nvSpPr>
          <p:cNvPr id="11" name="TextBox 11"/>
          <p:cNvSpPr txBox="1"/>
          <p:nvPr/>
        </p:nvSpPr>
        <p:spPr>
          <a:xfrm>
            <a:off x="10226040" y="7524988"/>
            <a:ext cx="7360920" cy="1885655"/>
          </a:xfrm>
          <a:prstGeom prst="rect">
            <a:avLst/>
          </a:prstGeom>
        </p:spPr>
        <p:txBody>
          <a:bodyPr lIns="0" tIns="0" rIns="0" bIns="0" rtlCol="0" anchor="t">
            <a:spAutoFit/>
          </a:bodyPr>
          <a:lstStyle/>
          <a:p>
            <a:pPr algn="l">
              <a:lnSpc>
                <a:spcPts val="2879"/>
              </a:lnSpc>
            </a:pPr>
            <a:r>
              <a:rPr lang="en-US" sz="2400">
                <a:solidFill>
                  <a:srgbClr val="FFFFFF"/>
                </a:solidFill>
                <a:latin typeface="Calibri (MS)"/>
                <a:ea typeface="Calibri (MS)"/>
                <a:cs typeface="Calibri (MS)"/>
                <a:sym typeface="Calibri (MS)"/>
              </a:rPr>
              <a:t>The boxplot indicates a median rating of 1562, which is nearly identical to the white rating median. The spread (IQR) covers the middle 50% of players, while the whiskers and outliers reveal the full range of skill from beginners (789) to experts (2723).</a:t>
            </a:r>
          </a:p>
        </p:txBody>
      </p:sp>
      <p:pic>
        <p:nvPicPr>
          <p:cNvPr id="15" name="Picture 14">
            <a:extLst>
              <a:ext uri="{FF2B5EF4-FFF2-40B4-BE49-F238E27FC236}">
                <a16:creationId xmlns:a16="http://schemas.microsoft.com/office/drawing/2014/main" id="{1CD63E06-D8DC-41C5-238E-F6B132E610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48505" y="3229508"/>
            <a:ext cx="6569009" cy="4191363"/>
          </a:xfrm>
          <a:prstGeom prst="rect">
            <a:avLst/>
          </a:prstGeom>
        </p:spPr>
      </p:pic>
      <p:pic>
        <p:nvPicPr>
          <p:cNvPr id="17" name="Picture 16">
            <a:extLst>
              <a:ext uri="{FF2B5EF4-FFF2-40B4-BE49-F238E27FC236}">
                <a16:creationId xmlns:a16="http://schemas.microsoft.com/office/drawing/2014/main" id="{23070EB9-CD12-91AF-7E42-7DB167C1384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0140" y="3232351"/>
            <a:ext cx="6569009" cy="41913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TextBox 2"/>
          <p:cNvSpPr txBox="1"/>
          <p:nvPr/>
        </p:nvSpPr>
        <p:spPr>
          <a:xfrm>
            <a:off x="1758239" y="1920307"/>
            <a:ext cx="11158176" cy="801576"/>
          </a:xfrm>
          <a:prstGeom prst="rect">
            <a:avLst/>
          </a:prstGeom>
        </p:spPr>
        <p:txBody>
          <a:bodyPr lIns="0" tIns="0" rIns="0" bIns="0" rtlCol="0" anchor="t">
            <a:spAutoFit/>
          </a:bodyPr>
          <a:lstStyle/>
          <a:p>
            <a:pPr algn="l">
              <a:lnSpc>
                <a:spcPts val="7183"/>
              </a:lnSpc>
            </a:pPr>
            <a:r>
              <a:rPr lang="en-US" sz="7183" dirty="0">
                <a:solidFill>
                  <a:srgbClr val="FFFFFF"/>
                </a:solidFill>
                <a:latin typeface="Archivo Black"/>
                <a:ea typeface="Archivo Black"/>
                <a:cs typeface="Archivo Black"/>
                <a:sym typeface="Archivo Black"/>
              </a:rPr>
              <a:t>Numerical measures</a:t>
            </a:r>
          </a:p>
        </p:txBody>
      </p:sp>
      <p:sp>
        <p:nvSpPr>
          <p:cNvPr id="3" name="TextBox 3"/>
          <p:cNvSpPr txBox="1"/>
          <p:nvPr/>
        </p:nvSpPr>
        <p:spPr>
          <a:xfrm>
            <a:off x="1758239" y="3204620"/>
            <a:ext cx="10720368" cy="853440"/>
          </a:xfrm>
          <a:prstGeom prst="rect">
            <a:avLst/>
          </a:prstGeom>
        </p:spPr>
        <p:txBody>
          <a:bodyPr lIns="0" tIns="0" rIns="0" bIns="0" rtlCol="0" anchor="t">
            <a:spAutoFit/>
          </a:bodyPr>
          <a:lstStyle/>
          <a:p>
            <a:pPr algn="l">
              <a:lnSpc>
                <a:spcPts val="3358"/>
              </a:lnSpc>
            </a:pPr>
            <a:r>
              <a:rPr lang="en-US" sz="2400">
                <a:solidFill>
                  <a:srgbClr val="FFFFFF"/>
                </a:solidFill>
                <a:latin typeface="Open Sans"/>
                <a:ea typeface="Open Sans"/>
                <a:cs typeface="Open Sans"/>
                <a:sym typeface="Open Sans"/>
              </a:rPr>
              <a:t>This table summarizes the descriptive statistics for the primary quantitative variables in our dataset.</a:t>
            </a:r>
          </a:p>
        </p:txBody>
      </p:sp>
      <p:sp>
        <p:nvSpPr>
          <p:cNvPr id="4" name="Freeform 2">
            <a:extLst>
              <a:ext uri="{FF2B5EF4-FFF2-40B4-BE49-F238E27FC236}">
                <a16:creationId xmlns:a16="http://schemas.microsoft.com/office/drawing/2014/main" id="{6A02E7DF-C682-F525-785A-B89DAA5789FF}"/>
              </a:ext>
            </a:extLst>
          </p:cNvPr>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3">
            <a:extLst>
              <a:ext uri="{FF2B5EF4-FFF2-40B4-BE49-F238E27FC236}">
                <a16:creationId xmlns:a16="http://schemas.microsoft.com/office/drawing/2014/main" id="{770FC8F7-908A-36B8-9E86-2923734E368A}"/>
              </a:ext>
            </a:extLst>
          </p:cNvPr>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4">
              <a:extLst>
                <a:ext uri="{96DAC541-7B7A-43D3-8B79-37D633B846F1}">
                  <asvg:svgBlip xmlns:asvg="http://schemas.microsoft.com/office/drawing/2016/SVG/main" r:embed="rId5"/>
                </a:ext>
              </a:extLst>
            </a:blip>
            <a:stretch>
              <a:fillRect t="-419" b="-424"/>
            </a:stretch>
          </a:blipFill>
        </p:spPr>
        <p:txBody>
          <a:bodyPr/>
          <a:lstStyle/>
          <a:p>
            <a:endParaRPr lang="en-US"/>
          </a:p>
        </p:txBody>
      </p:sp>
      <p:sp>
        <p:nvSpPr>
          <p:cNvPr id="6" name="TextBox 4">
            <a:extLst>
              <a:ext uri="{FF2B5EF4-FFF2-40B4-BE49-F238E27FC236}">
                <a16:creationId xmlns:a16="http://schemas.microsoft.com/office/drawing/2014/main" id="{220CF6D6-D103-3836-2D7B-1AF92A14E098}"/>
              </a:ext>
            </a:extLst>
          </p:cNvPr>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About</a:t>
            </a:r>
          </a:p>
        </p:txBody>
      </p:sp>
      <p:sp>
        <p:nvSpPr>
          <p:cNvPr id="7" name="TextBox 5">
            <a:extLst>
              <a:ext uri="{FF2B5EF4-FFF2-40B4-BE49-F238E27FC236}">
                <a16:creationId xmlns:a16="http://schemas.microsoft.com/office/drawing/2014/main" id="{19F66A63-0AB1-2BF1-6A6C-CF5B2902EDAC}"/>
              </a:ext>
            </a:extLst>
          </p:cNvPr>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Project</a:t>
            </a:r>
          </a:p>
        </p:txBody>
      </p:sp>
      <p:sp>
        <p:nvSpPr>
          <p:cNvPr id="8" name="TextBox 6">
            <a:extLst>
              <a:ext uri="{FF2B5EF4-FFF2-40B4-BE49-F238E27FC236}">
                <a16:creationId xmlns:a16="http://schemas.microsoft.com/office/drawing/2014/main" id="{D211FC0B-6507-6BAD-D8BB-BD92D45B7941}"/>
              </a:ext>
            </a:extLst>
          </p:cNvPr>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graphicFrame>
        <p:nvGraphicFramePr>
          <p:cNvPr id="9" name="Table 8">
            <a:extLst>
              <a:ext uri="{FF2B5EF4-FFF2-40B4-BE49-F238E27FC236}">
                <a16:creationId xmlns:a16="http://schemas.microsoft.com/office/drawing/2014/main" id="{6C5B81F1-CE71-E522-37F8-73CC3AB060C0}"/>
              </a:ext>
            </a:extLst>
          </p:cNvPr>
          <p:cNvGraphicFramePr>
            <a:graphicFrameLocks noGrp="1"/>
          </p:cNvGraphicFramePr>
          <p:nvPr>
            <p:extLst>
              <p:ext uri="{D42A27DB-BD31-4B8C-83A1-F6EECF244321}">
                <p14:modId xmlns:p14="http://schemas.microsoft.com/office/powerpoint/2010/main" val="889134320"/>
              </p:ext>
            </p:extLst>
          </p:nvPr>
        </p:nvGraphicFramePr>
        <p:xfrm>
          <a:off x="2209800" y="4442460"/>
          <a:ext cx="10515600" cy="4511038"/>
        </p:xfrm>
        <a:graphic>
          <a:graphicData uri="http://schemas.openxmlformats.org/drawingml/2006/table">
            <a:tbl>
              <a:tblPr/>
              <a:tblGrid>
                <a:gridCol w="2628900">
                  <a:extLst>
                    <a:ext uri="{9D8B030D-6E8A-4147-A177-3AD203B41FA5}">
                      <a16:colId xmlns:a16="http://schemas.microsoft.com/office/drawing/2014/main" val="1252060600"/>
                    </a:ext>
                  </a:extLst>
                </a:gridCol>
                <a:gridCol w="2628900">
                  <a:extLst>
                    <a:ext uri="{9D8B030D-6E8A-4147-A177-3AD203B41FA5}">
                      <a16:colId xmlns:a16="http://schemas.microsoft.com/office/drawing/2014/main" val="2857962185"/>
                    </a:ext>
                  </a:extLst>
                </a:gridCol>
                <a:gridCol w="2628900">
                  <a:extLst>
                    <a:ext uri="{9D8B030D-6E8A-4147-A177-3AD203B41FA5}">
                      <a16:colId xmlns:a16="http://schemas.microsoft.com/office/drawing/2014/main" val="1029632584"/>
                    </a:ext>
                  </a:extLst>
                </a:gridCol>
                <a:gridCol w="2628900">
                  <a:extLst>
                    <a:ext uri="{9D8B030D-6E8A-4147-A177-3AD203B41FA5}">
                      <a16:colId xmlns:a16="http://schemas.microsoft.com/office/drawing/2014/main" val="1723713686"/>
                    </a:ext>
                  </a:extLst>
                </a:gridCol>
              </a:tblGrid>
              <a:tr h="644434">
                <a:tc>
                  <a:txBody>
                    <a:bodyPr/>
                    <a:lstStyle/>
                    <a:p>
                      <a:pPr>
                        <a:buNone/>
                      </a:pPr>
                      <a:r>
                        <a:rPr lang="en-US" b="1" dirty="0">
                          <a:ln>
                            <a:solidFill>
                              <a:schemeClr val="bg1"/>
                            </a:solidFill>
                          </a:ln>
                          <a:solidFill>
                            <a:schemeClr val="bg1"/>
                          </a:solidFill>
                          <a:effectLst/>
                        </a:rPr>
                        <a:t>Numerical Measure</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b="1">
                          <a:ln>
                            <a:solidFill>
                              <a:schemeClr val="bg1"/>
                            </a:solidFill>
                          </a:ln>
                          <a:solidFill>
                            <a:schemeClr val="bg1"/>
                          </a:solidFill>
                          <a:effectLst/>
                        </a:rPr>
                        <a:t>White Rating</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b="1" dirty="0">
                          <a:ln>
                            <a:solidFill>
                              <a:schemeClr val="bg1"/>
                            </a:solidFill>
                          </a:ln>
                          <a:solidFill>
                            <a:schemeClr val="bg1"/>
                          </a:solidFill>
                          <a:effectLst/>
                        </a:rPr>
                        <a:t>Black Rating</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b="1">
                          <a:ln>
                            <a:solidFill>
                              <a:schemeClr val="bg1"/>
                            </a:solidFill>
                          </a:ln>
                          <a:solidFill>
                            <a:schemeClr val="bg1"/>
                          </a:solidFill>
                          <a:effectLst/>
                        </a:rPr>
                        <a:t>Number of Turns</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2681754918"/>
                  </a:ext>
                </a:extLst>
              </a:tr>
              <a:tr h="644434">
                <a:tc>
                  <a:txBody>
                    <a:bodyPr/>
                    <a:lstStyle/>
                    <a:p>
                      <a:pPr>
                        <a:buNone/>
                      </a:pPr>
                      <a:r>
                        <a:rPr lang="en-US" b="1">
                          <a:ln>
                            <a:solidFill>
                              <a:schemeClr val="bg1"/>
                            </a:solidFill>
                          </a:ln>
                          <a:solidFill>
                            <a:schemeClr val="bg1"/>
                          </a:solidFill>
                          <a:effectLst/>
                        </a:rPr>
                        <a:t>Mean</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ln>
                            <a:solidFill>
                              <a:schemeClr val="bg1"/>
                            </a:solidFill>
                          </a:ln>
                          <a:solidFill>
                            <a:schemeClr val="bg1"/>
                          </a:solidFill>
                          <a:effectLst/>
                        </a:rPr>
                        <a:t>1596.63</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dirty="0">
                          <a:ln>
                            <a:solidFill>
                              <a:schemeClr val="bg1"/>
                            </a:solidFill>
                          </a:ln>
                          <a:solidFill>
                            <a:schemeClr val="bg1"/>
                          </a:solidFill>
                          <a:effectLst/>
                        </a:rPr>
                        <a:t>1588.83</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ln>
                            <a:solidFill>
                              <a:schemeClr val="bg1"/>
                            </a:solidFill>
                          </a:ln>
                          <a:solidFill>
                            <a:schemeClr val="bg1"/>
                          </a:solidFill>
                          <a:effectLst/>
                        </a:rPr>
                        <a:t>60.48</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3185086311"/>
                  </a:ext>
                </a:extLst>
              </a:tr>
              <a:tr h="644434">
                <a:tc>
                  <a:txBody>
                    <a:bodyPr/>
                    <a:lstStyle/>
                    <a:p>
                      <a:pPr>
                        <a:buNone/>
                      </a:pPr>
                      <a:r>
                        <a:rPr lang="en-US" b="1">
                          <a:ln>
                            <a:solidFill>
                              <a:schemeClr val="bg1"/>
                            </a:solidFill>
                          </a:ln>
                          <a:solidFill>
                            <a:schemeClr val="bg1"/>
                          </a:solidFill>
                          <a:effectLst/>
                        </a:rPr>
                        <a:t>Median</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ln>
                            <a:solidFill>
                              <a:schemeClr val="bg1"/>
                            </a:solidFill>
                          </a:ln>
                          <a:solidFill>
                            <a:schemeClr val="bg1"/>
                          </a:solidFill>
                          <a:effectLst/>
                        </a:rPr>
                        <a:t>1596</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dirty="0">
                          <a:ln>
                            <a:solidFill>
                              <a:schemeClr val="bg1"/>
                            </a:solidFill>
                          </a:ln>
                          <a:solidFill>
                            <a:schemeClr val="bg1"/>
                          </a:solidFill>
                          <a:effectLst/>
                        </a:rPr>
                        <a:t>1593</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ln>
                            <a:solidFill>
                              <a:schemeClr val="bg1"/>
                            </a:solidFill>
                          </a:ln>
                          <a:solidFill>
                            <a:schemeClr val="bg1"/>
                          </a:solidFill>
                          <a:effectLst/>
                        </a:rPr>
                        <a:t>58</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2368205002"/>
                  </a:ext>
                </a:extLst>
              </a:tr>
              <a:tr h="644434">
                <a:tc>
                  <a:txBody>
                    <a:bodyPr/>
                    <a:lstStyle/>
                    <a:p>
                      <a:pPr>
                        <a:buNone/>
                      </a:pPr>
                      <a:r>
                        <a:rPr lang="en-US" b="1">
                          <a:ln>
                            <a:solidFill>
                              <a:schemeClr val="bg1"/>
                            </a:solidFill>
                          </a:ln>
                          <a:solidFill>
                            <a:schemeClr val="bg1"/>
                          </a:solidFill>
                          <a:effectLst/>
                        </a:rPr>
                        <a:t>Std. Deviation</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ln>
                            <a:solidFill>
                              <a:schemeClr val="bg1"/>
                            </a:solidFill>
                          </a:ln>
                          <a:solidFill>
                            <a:schemeClr val="bg1"/>
                          </a:solidFill>
                          <a:effectLst/>
                        </a:rPr>
                        <a:t>291.13</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ln>
                            <a:solidFill>
                              <a:schemeClr val="bg1"/>
                            </a:solidFill>
                          </a:ln>
                          <a:solidFill>
                            <a:schemeClr val="bg1"/>
                          </a:solidFill>
                          <a:effectLst/>
                        </a:rPr>
                        <a:t>291.3</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ln>
                            <a:solidFill>
                              <a:schemeClr val="bg1"/>
                            </a:solidFill>
                          </a:ln>
                          <a:solidFill>
                            <a:schemeClr val="bg1"/>
                          </a:solidFill>
                          <a:effectLst/>
                        </a:rPr>
                        <a:t>33.57</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349882511"/>
                  </a:ext>
                </a:extLst>
              </a:tr>
              <a:tr h="644434">
                <a:tc>
                  <a:txBody>
                    <a:bodyPr/>
                    <a:lstStyle/>
                    <a:p>
                      <a:pPr>
                        <a:buNone/>
                      </a:pPr>
                      <a:r>
                        <a:rPr lang="en-US" b="1">
                          <a:ln>
                            <a:solidFill>
                              <a:schemeClr val="bg1"/>
                            </a:solidFill>
                          </a:ln>
                          <a:solidFill>
                            <a:schemeClr val="bg1"/>
                          </a:solidFill>
                          <a:effectLst/>
                        </a:rPr>
                        <a:t>Variance</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ln>
                            <a:solidFill>
                              <a:schemeClr val="bg1"/>
                            </a:solidFill>
                          </a:ln>
                          <a:solidFill>
                            <a:schemeClr val="bg1"/>
                          </a:solidFill>
                          <a:effectLst/>
                        </a:rPr>
                        <a:t>84,756.68</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ln>
                            <a:solidFill>
                              <a:schemeClr val="bg1"/>
                            </a:solidFill>
                          </a:ln>
                          <a:solidFill>
                            <a:schemeClr val="bg1"/>
                          </a:solidFill>
                          <a:effectLst/>
                        </a:rPr>
                        <a:t>84,855.69</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ln>
                            <a:solidFill>
                              <a:schemeClr val="bg1"/>
                            </a:solidFill>
                          </a:ln>
                          <a:solidFill>
                            <a:schemeClr val="bg1"/>
                          </a:solidFill>
                          <a:effectLst/>
                        </a:rPr>
                        <a:t>1,126.94</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4069275838"/>
                  </a:ext>
                </a:extLst>
              </a:tr>
              <a:tr h="644434">
                <a:tc>
                  <a:txBody>
                    <a:bodyPr/>
                    <a:lstStyle/>
                    <a:p>
                      <a:pPr>
                        <a:buNone/>
                      </a:pPr>
                      <a:r>
                        <a:rPr lang="en-US" b="1">
                          <a:ln>
                            <a:solidFill>
                              <a:schemeClr val="bg1"/>
                            </a:solidFill>
                          </a:ln>
                          <a:solidFill>
                            <a:schemeClr val="bg1"/>
                          </a:solidFill>
                          <a:effectLst/>
                        </a:rPr>
                        <a:t>Range</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ln>
                            <a:solidFill>
                              <a:schemeClr val="bg1"/>
                            </a:solidFill>
                          </a:ln>
                          <a:solidFill>
                            <a:schemeClr val="bg1"/>
                          </a:solidFill>
                          <a:effectLst/>
                        </a:rPr>
                        <a:t>1916</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ln>
                            <a:solidFill>
                              <a:schemeClr val="bg1"/>
                            </a:solidFill>
                          </a:ln>
                          <a:solidFill>
                            <a:schemeClr val="bg1"/>
                          </a:solidFill>
                          <a:effectLst/>
                        </a:rPr>
                        <a:t>1934</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ln>
                            <a:solidFill>
                              <a:schemeClr val="bg1"/>
                            </a:solidFill>
                          </a:ln>
                          <a:solidFill>
                            <a:schemeClr val="bg1"/>
                          </a:solidFill>
                          <a:effectLst/>
                        </a:rPr>
                        <a:t>348</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898035010"/>
                  </a:ext>
                </a:extLst>
              </a:tr>
              <a:tr h="644434">
                <a:tc>
                  <a:txBody>
                    <a:bodyPr/>
                    <a:lstStyle/>
                    <a:p>
                      <a:pPr>
                        <a:buNone/>
                      </a:pPr>
                      <a:r>
                        <a:rPr lang="en-US" b="1">
                          <a:ln>
                            <a:solidFill>
                              <a:schemeClr val="bg1"/>
                            </a:solidFill>
                          </a:ln>
                          <a:solidFill>
                            <a:schemeClr val="bg1"/>
                          </a:solidFill>
                          <a:effectLst/>
                        </a:rPr>
                        <a:t>IQR</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ln>
                            <a:solidFill>
                              <a:schemeClr val="bg1"/>
                            </a:solidFill>
                          </a:ln>
                          <a:solidFill>
                            <a:schemeClr val="bg1"/>
                          </a:solidFill>
                          <a:effectLst/>
                        </a:rPr>
                        <a:t>400.75</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ln>
                            <a:solidFill>
                              <a:schemeClr val="bg1"/>
                            </a:solidFill>
                          </a:ln>
                          <a:solidFill>
                            <a:schemeClr val="bg1"/>
                          </a:solidFill>
                          <a:effectLst/>
                        </a:rPr>
                        <a:t>401</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dirty="0">
                          <a:ln>
                            <a:solidFill>
                              <a:schemeClr val="bg1"/>
                            </a:solidFill>
                          </a:ln>
                          <a:solidFill>
                            <a:schemeClr val="bg1"/>
                          </a:solidFill>
                          <a:effectLst/>
                        </a:rPr>
                        <a:t>42</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238906167"/>
                  </a:ext>
                </a:extLst>
              </a:tr>
            </a:tbl>
          </a:graphicData>
        </a:graphic>
      </p:graphicFrame>
      <p:sp>
        <p:nvSpPr>
          <p:cNvPr id="10" name="Rectangle 1">
            <a:extLst>
              <a:ext uri="{FF2B5EF4-FFF2-40B4-BE49-F238E27FC236}">
                <a16:creationId xmlns:a16="http://schemas.microsoft.com/office/drawing/2014/main" id="{D9A06CE9-71E1-4DBD-F0E0-8AAF097E8FD2}"/>
              </a:ext>
            </a:extLst>
          </p:cNvPr>
          <p:cNvSpPr>
            <a:spLocks noChangeArrowheads="1"/>
          </p:cNvSpPr>
          <p:nvPr/>
        </p:nvSpPr>
        <p:spPr bwMode="auto">
          <a:xfrm>
            <a:off x="2209800" y="4442936"/>
            <a:ext cx="2336800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4">
              <a:extLst>
                <a:ext uri="{96DAC541-7B7A-43D3-8B79-37D633B846F1}">
                  <asvg:svgBlip xmlns:asvg="http://schemas.microsoft.com/office/drawing/2016/SVG/main" r:embed="rId5"/>
                </a:ext>
              </a:extLst>
            </a:blip>
            <a:stretch>
              <a:fillRect t="-419" b="-424"/>
            </a:stretch>
          </a:blipFill>
        </p:spPr>
        <p:txBody>
          <a:bodyPr/>
          <a:lstStyle/>
          <a:p>
            <a:endParaRPr lang="en-US"/>
          </a:p>
        </p:txBody>
      </p:sp>
      <p:sp>
        <p:nvSpPr>
          <p:cNvPr id="4" name="TextBox 4"/>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About</a:t>
            </a:r>
          </a:p>
        </p:txBody>
      </p:sp>
      <p:sp>
        <p:nvSpPr>
          <p:cNvPr id="5" name="TextBox 5"/>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Project</a:t>
            </a:r>
          </a:p>
        </p:txBody>
      </p:sp>
      <p:sp>
        <p:nvSpPr>
          <p:cNvPr id="6" name="TextBox 6"/>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7" name="TextBox 7"/>
          <p:cNvSpPr txBox="1"/>
          <p:nvPr/>
        </p:nvSpPr>
        <p:spPr>
          <a:xfrm>
            <a:off x="5997273" y="1314450"/>
            <a:ext cx="6293444" cy="801576"/>
          </a:xfrm>
          <a:prstGeom prst="rect">
            <a:avLst/>
          </a:prstGeom>
        </p:spPr>
        <p:txBody>
          <a:bodyPr lIns="0" tIns="0" rIns="0" bIns="0" rtlCol="0" anchor="t">
            <a:spAutoFit/>
          </a:bodyPr>
          <a:lstStyle/>
          <a:p>
            <a:pPr algn="l">
              <a:lnSpc>
                <a:spcPts val="7183"/>
              </a:lnSpc>
            </a:pPr>
            <a:r>
              <a:rPr lang="en-US" sz="7183">
                <a:solidFill>
                  <a:srgbClr val="FFFFFF"/>
                </a:solidFill>
                <a:latin typeface="Archivo Black"/>
                <a:ea typeface="Archivo Black"/>
                <a:cs typeface="Archivo Black"/>
                <a:sym typeface="Archivo Black"/>
              </a:rPr>
              <a:t>Our Project</a:t>
            </a:r>
          </a:p>
        </p:txBody>
      </p:sp>
      <p:sp>
        <p:nvSpPr>
          <p:cNvPr id="8" name="TextBox 8"/>
          <p:cNvSpPr txBox="1"/>
          <p:nvPr/>
        </p:nvSpPr>
        <p:spPr>
          <a:xfrm>
            <a:off x="694058" y="3877780"/>
            <a:ext cx="5770683" cy="1195073"/>
          </a:xfrm>
          <a:prstGeom prst="rect">
            <a:avLst/>
          </a:prstGeom>
        </p:spPr>
        <p:txBody>
          <a:bodyPr lIns="0" tIns="0" rIns="0" bIns="0" rtlCol="0" anchor="t">
            <a:spAutoFit/>
          </a:bodyPr>
          <a:lstStyle/>
          <a:p>
            <a:pPr algn="l">
              <a:lnSpc>
                <a:spcPts val="2379"/>
              </a:lnSpc>
            </a:pPr>
            <a:r>
              <a:rPr lang="en-US" sz="1699">
                <a:solidFill>
                  <a:srgbClr val="FFFFFF"/>
                </a:solidFill>
                <a:latin typeface="Open Sans"/>
                <a:ea typeface="Open Sans"/>
                <a:cs typeface="Open Sans"/>
                <a:sym typeface="Open Sans"/>
              </a:rPr>
              <a:t>Central Tendency: The mean and median for both player ratings are very close (approx. 1596), suggesting a relatively symmetric distribution for skill, though slightly right-skewed by high-level outliers.</a:t>
            </a:r>
          </a:p>
        </p:txBody>
      </p:sp>
      <p:sp>
        <p:nvSpPr>
          <p:cNvPr id="9" name="TextBox 9"/>
          <p:cNvSpPr txBox="1"/>
          <p:nvPr/>
        </p:nvSpPr>
        <p:spPr>
          <a:xfrm>
            <a:off x="694058" y="3204620"/>
            <a:ext cx="5770683" cy="434340"/>
          </a:xfrm>
          <a:prstGeom prst="rect">
            <a:avLst/>
          </a:prstGeom>
        </p:spPr>
        <p:txBody>
          <a:bodyPr lIns="0" tIns="0" rIns="0" bIns="0" rtlCol="0" anchor="t">
            <a:spAutoFit/>
          </a:bodyPr>
          <a:lstStyle/>
          <a:p>
            <a:pPr algn="l">
              <a:lnSpc>
                <a:spcPts val="3358"/>
              </a:lnSpc>
            </a:pPr>
            <a:r>
              <a:rPr lang="en-US" sz="2400">
                <a:solidFill>
                  <a:srgbClr val="FFFFFF"/>
                </a:solidFill>
                <a:latin typeface="Open Sans"/>
                <a:ea typeface="Open Sans"/>
                <a:cs typeface="Open Sans"/>
                <a:sym typeface="Open Sans"/>
              </a:rPr>
              <a:t>Brief Comment on Measures:</a:t>
            </a:r>
          </a:p>
        </p:txBody>
      </p:sp>
      <p:sp>
        <p:nvSpPr>
          <p:cNvPr id="10" name="TextBox 10"/>
          <p:cNvSpPr txBox="1"/>
          <p:nvPr/>
        </p:nvSpPr>
        <p:spPr>
          <a:xfrm>
            <a:off x="694058" y="5310969"/>
            <a:ext cx="5770683" cy="899798"/>
          </a:xfrm>
          <a:prstGeom prst="rect">
            <a:avLst/>
          </a:prstGeom>
        </p:spPr>
        <p:txBody>
          <a:bodyPr lIns="0" tIns="0" rIns="0" bIns="0" rtlCol="0" anchor="t">
            <a:spAutoFit/>
          </a:bodyPr>
          <a:lstStyle/>
          <a:p>
            <a:pPr algn="l">
              <a:lnSpc>
                <a:spcPts val="2379"/>
              </a:lnSpc>
            </a:pPr>
            <a:r>
              <a:rPr lang="en-US" sz="1699">
                <a:solidFill>
                  <a:srgbClr val="FFFFFF"/>
                </a:solidFill>
                <a:latin typeface="Open Sans"/>
                <a:ea typeface="Open Sans"/>
                <a:cs typeface="Open Sans"/>
                <a:sym typeface="Open Sans"/>
              </a:rPr>
              <a:t>Variation: Player ratings show high variability (SD ≈ 291), reflecting a wide range of skill levels from beginners to experts.</a:t>
            </a:r>
          </a:p>
        </p:txBody>
      </p:sp>
      <p:sp>
        <p:nvSpPr>
          <p:cNvPr id="11" name="TextBox 11"/>
          <p:cNvSpPr txBox="1"/>
          <p:nvPr/>
        </p:nvSpPr>
        <p:spPr>
          <a:xfrm>
            <a:off x="694058" y="6625523"/>
            <a:ext cx="5770683" cy="1121407"/>
          </a:xfrm>
          <a:prstGeom prst="rect">
            <a:avLst/>
          </a:prstGeom>
        </p:spPr>
        <p:txBody>
          <a:bodyPr lIns="0" tIns="0" rIns="0" bIns="0" rtlCol="0" anchor="t">
            <a:spAutoFit/>
          </a:bodyPr>
          <a:lstStyle/>
          <a:p>
            <a:pPr algn="l">
              <a:lnSpc>
                <a:spcPts val="2238"/>
              </a:lnSpc>
            </a:pPr>
            <a:r>
              <a:rPr lang="en-US" sz="1599">
                <a:solidFill>
                  <a:srgbClr val="FFFFFF"/>
                </a:solidFill>
                <a:latin typeface="Open Sans"/>
                <a:ea typeface="Open Sans"/>
                <a:cs typeface="Open Sans"/>
                <a:sym typeface="Open Sans"/>
              </a:rPr>
              <a:t>Game Length: The median of 58 turns compared to a mean of 60.48 indicates that while most games are around 50-60 moves, "marathon" games (up to 349 moves) pull the average slightly higher.</a:t>
            </a:r>
          </a:p>
        </p:txBody>
      </p:sp>
      <p:grpSp>
        <p:nvGrpSpPr>
          <p:cNvPr id="12" name="Group 12"/>
          <p:cNvGrpSpPr/>
          <p:nvPr/>
        </p:nvGrpSpPr>
        <p:grpSpPr>
          <a:xfrm>
            <a:off x="10820400" y="2933700"/>
            <a:ext cx="6438900" cy="4813240"/>
            <a:chOff x="0" y="0"/>
            <a:chExt cx="8585200" cy="6417653"/>
          </a:xfrm>
        </p:grpSpPr>
        <p:sp>
          <p:nvSpPr>
            <p:cNvPr id="13" name="Freeform 13"/>
            <p:cNvSpPr/>
            <p:nvPr/>
          </p:nvSpPr>
          <p:spPr>
            <a:xfrm>
              <a:off x="0" y="0"/>
              <a:ext cx="8585200" cy="6417691"/>
            </a:xfrm>
            <a:custGeom>
              <a:avLst/>
              <a:gdLst/>
              <a:ahLst/>
              <a:cxnLst/>
              <a:rect l="l" t="t" r="r" b="b"/>
              <a:pathLst>
                <a:path w="8585200" h="6417691">
                  <a:moveTo>
                    <a:pt x="0" y="0"/>
                  </a:moveTo>
                  <a:lnTo>
                    <a:pt x="8585200" y="0"/>
                  </a:lnTo>
                  <a:lnTo>
                    <a:pt x="8585200" y="6417691"/>
                  </a:lnTo>
                  <a:lnTo>
                    <a:pt x="0" y="6417691"/>
                  </a:lnTo>
                  <a:close/>
                </a:path>
              </a:pathLst>
            </a:custGeom>
            <a:blipFill>
              <a:blip r:embed="rId6"/>
              <a:stretch>
                <a:fillRect l="-16441" r="-16441"/>
              </a:stretch>
            </a:blipFill>
          </p:spPr>
          <p:txBody>
            <a:bodyPr/>
            <a:lstStyle/>
            <a:p>
              <a:endParaRPr 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4">
              <a:extLst>
                <a:ext uri="{96DAC541-7B7A-43D3-8B79-37D633B846F1}">
                  <asvg:svgBlip xmlns:asvg="http://schemas.microsoft.com/office/drawing/2016/SVG/main" r:embed="rId5"/>
                </a:ext>
              </a:extLst>
            </a:blip>
            <a:stretch>
              <a:fillRect t="-419" b="-424"/>
            </a:stretch>
          </a:blipFill>
        </p:spPr>
        <p:txBody>
          <a:bodyPr/>
          <a:lstStyle/>
          <a:p>
            <a:endParaRPr lang="en-US"/>
          </a:p>
        </p:txBody>
      </p:sp>
      <p:sp>
        <p:nvSpPr>
          <p:cNvPr id="4" name="TextBox 4"/>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About</a:t>
            </a:r>
          </a:p>
        </p:txBody>
      </p:sp>
      <p:sp>
        <p:nvSpPr>
          <p:cNvPr id="5" name="TextBox 5"/>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Project</a:t>
            </a:r>
          </a:p>
        </p:txBody>
      </p:sp>
      <p:sp>
        <p:nvSpPr>
          <p:cNvPr id="6" name="TextBox 6"/>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7" name="TextBox 7"/>
          <p:cNvSpPr txBox="1"/>
          <p:nvPr/>
        </p:nvSpPr>
        <p:spPr>
          <a:xfrm>
            <a:off x="1422406" y="1819056"/>
            <a:ext cx="11531594" cy="934871"/>
          </a:xfrm>
          <a:prstGeom prst="rect">
            <a:avLst/>
          </a:prstGeom>
        </p:spPr>
        <p:txBody>
          <a:bodyPr wrap="square" lIns="0" tIns="0" rIns="0" bIns="0" rtlCol="0" anchor="t">
            <a:spAutoFit/>
          </a:bodyPr>
          <a:lstStyle/>
          <a:p>
            <a:pPr algn="l">
              <a:lnSpc>
                <a:spcPts val="7183"/>
              </a:lnSpc>
            </a:pPr>
            <a:r>
              <a:rPr lang="en-US" sz="6800" dirty="0">
                <a:solidFill>
                  <a:srgbClr val="FFFFFF"/>
                </a:solidFill>
                <a:latin typeface="Archivo Black"/>
                <a:ea typeface="Archivo Black"/>
                <a:cs typeface="Archivo Black"/>
                <a:sym typeface="Archivo Black"/>
              </a:rPr>
              <a:t>Sample Proportion Test</a:t>
            </a:r>
          </a:p>
        </p:txBody>
      </p:sp>
      <p:sp>
        <p:nvSpPr>
          <p:cNvPr id="8" name="TextBox 8"/>
          <p:cNvSpPr txBox="1"/>
          <p:nvPr/>
        </p:nvSpPr>
        <p:spPr>
          <a:xfrm>
            <a:off x="1538745" y="3430248"/>
            <a:ext cx="11698129" cy="454266"/>
          </a:xfrm>
          <a:prstGeom prst="rect">
            <a:avLst/>
          </a:prstGeom>
        </p:spPr>
        <p:txBody>
          <a:bodyPr lIns="0" tIns="0" rIns="0" bIns="0" rtlCol="0" anchor="t">
            <a:spAutoFit/>
          </a:bodyPr>
          <a:lstStyle/>
          <a:p>
            <a:pPr algn="ctr">
              <a:lnSpc>
                <a:spcPts val="3310"/>
              </a:lnSpc>
            </a:pPr>
            <a:r>
              <a:rPr lang="en-US" sz="2365">
                <a:solidFill>
                  <a:srgbClr val="FFFFFF"/>
                </a:solidFill>
                <a:latin typeface="Open Sans"/>
                <a:ea typeface="Open Sans"/>
                <a:cs typeface="Open Sans"/>
                <a:sym typeface="Open Sans"/>
              </a:rPr>
              <a:t>We tested whether the population proportions differ from a 50/50 (0.5) distribution.</a:t>
            </a:r>
          </a:p>
        </p:txBody>
      </p:sp>
      <p:graphicFrame>
        <p:nvGraphicFramePr>
          <p:cNvPr id="9" name="Table 8">
            <a:extLst>
              <a:ext uri="{FF2B5EF4-FFF2-40B4-BE49-F238E27FC236}">
                <a16:creationId xmlns:a16="http://schemas.microsoft.com/office/drawing/2014/main" id="{6A3E1AF3-B0B4-9A76-429C-A76A9E7C711D}"/>
              </a:ext>
            </a:extLst>
          </p:cNvPr>
          <p:cNvGraphicFramePr>
            <a:graphicFrameLocks noGrp="1"/>
          </p:cNvGraphicFramePr>
          <p:nvPr>
            <p:extLst>
              <p:ext uri="{D42A27DB-BD31-4B8C-83A1-F6EECF244321}">
                <p14:modId xmlns:p14="http://schemas.microsoft.com/office/powerpoint/2010/main" val="3428677558"/>
              </p:ext>
            </p:extLst>
          </p:nvPr>
        </p:nvGraphicFramePr>
        <p:xfrm>
          <a:off x="1538745" y="4398426"/>
          <a:ext cx="8229600" cy="2194560"/>
        </p:xfrm>
        <a:graphic>
          <a:graphicData uri="http://schemas.openxmlformats.org/drawingml/2006/table">
            <a:tbl>
              <a:tblPr/>
              <a:tblGrid>
                <a:gridCol w="1371600">
                  <a:extLst>
                    <a:ext uri="{9D8B030D-6E8A-4147-A177-3AD203B41FA5}">
                      <a16:colId xmlns:a16="http://schemas.microsoft.com/office/drawing/2014/main" val="1565325130"/>
                    </a:ext>
                  </a:extLst>
                </a:gridCol>
                <a:gridCol w="1371600">
                  <a:extLst>
                    <a:ext uri="{9D8B030D-6E8A-4147-A177-3AD203B41FA5}">
                      <a16:colId xmlns:a16="http://schemas.microsoft.com/office/drawing/2014/main" val="977294666"/>
                    </a:ext>
                  </a:extLst>
                </a:gridCol>
                <a:gridCol w="1371600">
                  <a:extLst>
                    <a:ext uri="{9D8B030D-6E8A-4147-A177-3AD203B41FA5}">
                      <a16:colId xmlns:a16="http://schemas.microsoft.com/office/drawing/2014/main" val="2751580425"/>
                    </a:ext>
                  </a:extLst>
                </a:gridCol>
                <a:gridCol w="1371600">
                  <a:extLst>
                    <a:ext uri="{9D8B030D-6E8A-4147-A177-3AD203B41FA5}">
                      <a16:colId xmlns:a16="http://schemas.microsoft.com/office/drawing/2014/main" val="1420961956"/>
                    </a:ext>
                  </a:extLst>
                </a:gridCol>
                <a:gridCol w="1371600">
                  <a:extLst>
                    <a:ext uri="{9D8B030D-6E8A-4147-A177-3AD203B41FA5}">
                      <a16:colId xmlns:a16="http://schemas.microsoft.com/office/drawing/2014/main" val="3043943917"/>
                    </a:ext>
                  </a:extLst>
                </a:gridCol>
                <a:gridCol w="1371600">
                  <a:extLst>
                    <a:ext uri="{9D8B030D-6E8A-4147-A177-3AD203B41FA5}">
                      <a16:colId xmlns:a16="http://schemas.microsoft.com/office/drawing/2014/main" val="1587820593"/>
                    </a:ext>
                  </a:extLst>
                </a:gridCol>
              </a:tblGrid>
              <a:tr h="502920">
                <a:tc>
                  <a:txBody>
                    <a:bodyPr/>
                    <a:lstStyle/>
                    <a:p>
                      <a:pPr>
                        <a:buNone/>
                      </a:pPr>
                      <a:r>
                        <a:rPr lang="en-US" b="1" dirty="0">
                          <a:solidFill>
                            <a:schemeClr val="bg1"/>
                          </a:solidFill>
                          <a:effectLst/>
                        </a:rPr>
                        <a:t>Variable (Category)</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b="1">
                          <a:solidFill>
                            <a:schemeClr val="bg1"/>
                          </a:solidFill>
                          <a:effectLst/>
                        </a:rPr>
                        <a:t>Sample Prop (p^​)</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b="1">
                          <a:solidFill>
                            <a:schemeClr val="bg1"/>
                          </a:solidFill>
                          <a:effectLst/>
                        </a:rPr>
                        <a:t>95% Confidence Interval</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b="1">
                          <a:solidFill>
                            <a:schemeClr val="bg1"/>
                          </a:solidFill>
                          <a:effectLst/>
                        </a:rPr>
                        <a:t>Test Statistic (</a:t>
                      </a:r>
                      <a:r>
                        <a:rPr lang="el-GR" b="1">
                          <a:solidFill>
                            <a:schemeClr val="bg1"/>
                          </a:solidFill>
                          <a:effectLst/>
                        </a:rPr>
                        <a:t>χ2)</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b="1">
                          <a:solidFill>
                            <a:schemeClr val="bg1"/>
                          </a:solidFill>
                          <a:effectLst/>
                        </a:rPr>
                        <a:t>P-Value</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b="1" dirty="0">
                          <a:solidFill>
                            <a:schemeClr val="bg1"/>
                          </a:solidFill>
                          <a:effectLst/>
                        </a:rPr>
                        <a:t>Decision</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83348453"/>
                  </a:ext>
                </a:extLst>
              </a:tr>
              <a:tr h="502920">
                <a:tc>
                  <a:txBody>
                    <a:bodyPr/>
                    <a:lstStyle/>
                    <a:p>
                      <a:pPr>
                        <a:buNone/>
                      </a:pPr>
                      <a:r>
                        <a:rPr lang="en-US" b="1">
                          <a:solidFill>
                            <a:schemeClr val="bg1"/>
                          </a:solidFill>
                          <a:effectLst/>
                        </a:rPr>
                        <a:t>Winner (White)</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solidFill>
                            <a:schemeClr val="bg1"/>
                          </a:solidFill>
                          <a:effectLst/>
                        </a:rPr>
                        <a:t>0.4986</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solidFill>
                            <a:schemeClr val="bg1"/>
                          </a:solidFill>
                          <a:effectLst/>
                        </a:rPr>
                        <a:t>[0.4917, 0.5055]</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solidFill>
                            <a:schemeClr val="bg1"/>
                          </a:solidFill>
                          <a:effectLst/>
                        </a:rPr>
                        <a:t>0.11</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solidFill>
                            <a:schemeClr val="bg1"/>
                          </a:solidFill>
                          <a:effectLst/>
                        </a:rPr>
                        <a:t>0.738</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solidFill>
                            <a:schemeClr val="bg1"/>
                          </a:solidFill>
                          <a:effectLst/>
                        </a:rPr>
                        <a:t>Fail to reject Ha</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587083589"/>
                  </a:ext>
                </a:extLst>
              </a:tr>
              <a:tr h="502920">
                <a:tc>
                  <a:txBody>
                    <a:bodyPr/>
                    <a:lstStyle/>
                    <a:p>
                      <a:pPr>
                        <a:buNone/>
                      </a:pPr>
                      <a:r>
                        <a:rPr lang="en-US" b="1">
                          <a:solidFill>
                            <a:schemeClr val="bg1"/>
                          </a:solidFill>
                          <a:effectLst/>
                        </a:rPr>
                        <a:t>Rated (TRUE)</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solidFill>
                            <a:schemeClr val="bg1"/>
                          </a:solidFill>
                          <a:effectLst/>
                        </a:rPr>
                        <a:t>0.8054</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solidFill>
                            <a:schemeClr val="bg1"/>
                          </a:solidFill>
                          <a:effectLst/>
                        </a:rPr>
                        <a:t>[0.7999, 0.8108]</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solidFill>
                            <a:schemeClr val="bg1"/>
                          </a:solidFill>
                          <a:effectLst/>
                        </a:rPr>
                        <a:t>2963.8</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solidFill>
                            <a:schemeClr val="bg1"/>
                          </a:solidFill>
                          <a:effectLst/>
                        </a:rPr>
                        <a:t>&lt; 2.2e-16</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b="1" dirty="0">
                          <a:solidFill>
                            <a:schemeClr val="bg1"/>
                          </a:solidFill>
                          <a:effectLst/>
                        </a:rPr>
                        <a:t>Reject Ha</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926944867"/>
                  </a:ext>
                </a:extLst>
              </a:tr>
            </a:tbl>
          </a:graphicData>
        </a:graphic>
      </p:graphicFrame>
      <p:sp>
        <p:nvSpPr>
          <p:cNvPr id="10" name="Rectangle 1">
            <a:extLst>
              <a:ext uri="{FF2B5EF4-FFF2-40B4-BE49-F238E27FC236}">
                <a16:creationId xmlns:a16="http://schemas.microsoft.com/office/drawing/2014/main" id="{E06C8C0D-8172-11C0-5837-060E99C9DAFD}"/>
              </a:ext>
            </a:extLst>
          </p:cNvPr>
          <p:cNvSpPr>
            <a:spLocks noChangeArrowheads="1"/>
          </p:cNvSpPr>
          <p:nvPr/>
        </p:nvSpPr>
        <p:spPr bwMode="auto">
          <a:xfrm>
            <a:off x="1538745" y="5495706"/>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4">
              <a:extLst>
                <a:ext uri="{96DAC541-7B7A-43D3-8B79-37D633B846F1}">
                  <asvg:svgBlip xmlns:asvg="http://schemas.microsoft.com/office/drawing/2016/SVG/main" r:embed="rId5"/>
                </a:ext>
              </a:extLst>
            </a:blip>
            <a:stretch>
              <a:fillRect t="-419" b="-424"/>
            </a:stretch>
          </a:blipFill>
        </p:spPr>
        <p:txBody>
          <a:bodyPr/>
          <a:lstStyle/>
          <a:p>
            <a:endParaRPr lang="en-US"/>
          </a:p>
        </p:txBody>
      </p:sp>
      <p:grpSp>
        <p:nvGrpSpPr>
          <p:cNvPr id="4" name="Group 4"/>
          <p:cNvGrpSpPr/>
          <p:nvPr/>
        </p:nvGrpSpPr>
        <p:grpSpPr>
          <a:xfrm>
            <a:off x="0" y="5543074"/>
            <a:ext cx="6601092" cy="4743926"/>
            <a:chOff x="0" y="0"/>
            <a:chExt cx="8801456" cy="6325235"/>
          </a:xfrm>
        </p:grpSpPr>
        <p:sp>
          <p:nvSpPr>
            <p:cNvPr id="5" name="Freeform 5"/>
            <p:cNvSpPr/>
            <p:nvPr/>
          </p:nvSpPr>
          <p:spPr>
            <a:xfrm>
              <a:off x="0" y="0"/>
              <a:ext cx="8801481" cy="6325235"/>
            </a:xfrm>
            <a:custGeom>
              <a:avLst/>
              <a:gdLst/>
              <a:ahLst/>
              <a:cxnLst/>
              <a:rect l="l" t="t" r="r" b="b"/>
              <a:pathLst>
                <a:path w="8801481" h="6325235">
                  <a:moveTo>
                    <a:pt x="0" y="0"/>
                  </a:moveTo>
                  <a:lnTo>
                    <a:pt x="8801481" y="0"/>
                  </a:lnTo>
                  <a:lnTo>
                    <a:pt x="8801481" y="6325235"/>
                  </a:lnTo>
                  <a:lnTo>
                    <a:pt x="0" y="6325235"/>
                  </a:lnTo>
                  <a:close/>
                </a:path>
              </a:pathLst>
            </a:custGeom>
            <a:blipFill>
              <a:blip r:embed="rId6"/>
              <a:stretch>
                <a:fillRect l="-3916" r="-3916"/>
              </a:stretch>
            </a:blipFill>
          </p:spPr>
          <p:txBody>
            <a:bodyPr/>
            <a:lstStyle/>
            <a:p>
              <a:endParaRPr lang="en-US"/>
            </a:p>
          </p:txBody>
        </p:sp>
      </p:grpSp>
      <p:grpSp>
        <p:nvGrpSpPr>
          <p:cNvPr id="6" name="Group 6"/>
          <p:cNvGrpSpPr/>
          <p:nvPr/>
        </p:nvGrpSpPr>
        <p:grpSpPr>
          <a:xfrm>
            <a:off x="0" y="0"/>
            <a:ext cx="6601092" cy="4743926"/>
            <a:chOff x="0" y="0"/>
            <a:chExt cx="8801456" cy="6325235"/>
          </a:xfrm>
        </p:grpSpPr>
        <p:sp>
          <p:nvSpPr>
            <p:cNvPr id="7" name="Freeform 7"/>
            <p:cNvSpPr/>
            <p:nvPr/>
          </p:nvSpPr>
          <p:spPr>
            <a:xfrm>
              <a:off x="0" y="0"/>
              <a:ext cx="8801481" cy="6325235"/>
            </a:xfrm>
            <a:custGeom>
              <a:avLst/>
              <a:gdLst/>
              <a:ahLst/>
              <a:cxnLst/>
              <a:rect l="l" t="t" r="r" b="b"/>
              <a:pathLst>
                <a:path w="8801481" h="6325235">
                  <a:moveTo>
                    <a:pt x="0" y="0"/>
                  </a:moveTo>
                  <a:lnTo>
                    <a:pt x="8801481" y="0"/>
                  </a:lnTo>
                  <a:lnTo>
                    <a:pt x="8801481" y="6325235"/>
                  </a:lnTo>
                  <a:lnTo>
                    <a:pt x="0" y="6325235"/>
                  </a:lnTo>
                  <a:close/>
                </a:path>
              </a:pathLst>
            </a:custGeom>
            <a:blipFill>
              <a:blip r:embed="rId7"/>
              <a:stretch>
                <a:fillRect l="-13892" r="-13891"/>
              </a:stretch>
            </a:blipFill>
          </p:spPr>
          <p:txBody>
            <a:bodyPr/>
            <a:lstStyle/>
            <a:p>
              <a:endParaRPr lang="en-US"/>
            </a:p>
          </p:txBody>
        </p:sp>
      </p:grpSp>
      <p:sp>
        <p:nvSpPr>
          <p:cNvPr id="8" name="TextBox 8"/>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About</a:t>
            </a:r>
          </a:p>
        </p:txBody>
      </p:sp>
      <p:sp>
        <p:nvSpPr>
          <p:cNvPr id="9" name="TextBox 9"/>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Project</a:t>
            </a:r>
          </a:p>
        </p:txBody>
      </p:sp>
      <p:sp>
        <p:nvSpPr>
          <p:cNvPr id="10" name="TextBox 10"/>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11" name="TextBox 11"/>
          <p:cNvSpPr txBox="1"/>
          <p:nvPr/>
        </p:nvSpPr>
        <p:spPr>
          <a:xfrm>
            <a:off x="7604093" y="2335701"/>
            <a:ext cx="7606227" cy="801576"/>
          </a:xfrm>
          <a:prstGeom prst="rect">
            <a:avLst/>
          </a:prstGeom>
        </p:spPr>
        <p:txBody>
          <a:bodyPr lIns="0" tIns="0" rIns="0" bIns="0" rtlCol="0" anchor="t">
            <a:spAutoFit/>
          </a:bodyPr>
          <a:lstStyle/>
          <a:p>
            <a:pPr algn="l">
              <a:lnSpc>
                <a:spcPts val="7183"/>
              </a:lnSpc>
            </a:pPr>
            <a:r>
              <a:rPr lang="en-US" sz="7183">
                <a:solidFill>
                  <a:srgbClr val="FFFFFF"/>
                </a:solidFill>
                <a:latin typeface="Archivo Black"/>
                <a:ea typeface="Archivo Black"/>
                <a:cs typeface="Archivo Black"/>
                <a:sym typeface="Archivo Black"/>
              </a:rPr>
              <a:t>Interpretation:</a:t>
            </a:r>
          </a:p>
        </p:txBody>
      </p:sp>
      <p:sp>
        <p:nvSpPr>
          <p:cNvPr id="12" name="TextBox 12"/>
          <p:cNvSpPr txBox="1"/>
          <p:nvPr/>
        </p:nvSpPr>
        <p:spPr>
          <a:xfrm>
            <a:off x="7732405" y="3333283"/>
            <a:ext cx="8793375" cy="1972942"/>
          </a:xfrm>
          <a:prstGeom prst="rect">
            <a:avLst/>
          </a:prstGeom>
        </p:spPr>
        <p:txBody>
          <a:bodyPr lIns="0" tIns="0" rIns="0" bIns="0" rtlCol="0" anchor="t">
            <a:spAutoFit/>
          </a:bodyPr>
          <a:lstStyle/>
          <a:p>
            <a:pPr algn="l">
              <a:lnSpc>
                <a:spcPts val="3078"/>
              </a:lnSpc>
            </a:pPr>
            <a:r>
              <a:rPr lang="en-US" sz="2199">
                <a:solidFill>
                  <a:srgbClr val="FFFFFF"/>
                </a:solidFill>
                <a:latin typeface="Open Sans"/>
                <a:ea typeface="Open Sans"/>
                <a:cs typeface="Open Sans"/>
                <a:sym typeface="Open Sans"/>
              </a:rPr>
              <a:t>Winner (White): The sample proportion of 0.4986 is extremely close to 0.5. Since the p-value (0.738) is much higher than 0.05, we conclude there is no statistical evidence that White has an advantage over Black in the population. The 95% CI contains 0.5, supporting this fairness.</a:t>
            </a:r>
          </a:p>
        </p:txBody>
      </p:sp>
      <p:sp>
        <p:nvSpPr>
          <p:cNvPr id="13" name="TextBox 13"/>
          <p:cNvSpPr txBox="1"/>
          <p:nvPr/>
        </p:nvSpPr>
        <p:spPr>
          <a:xfrm>
            <a:off x="7732405" y="6028058"/>
            <a:ext cx="8793375" cy="1137285"/>
          </a:xfrm>
          <a:prstGeom prst="rect">
            <a:avLst/>
          </a:prstGeom>
        </p:spPr>
        <p:txBody>
          <a:bodyPr lIns="0" tIns="0" rIns="0" bIns="0" rtlCol="0" anchor="t">
            <a:spAutoFit/>
          </a:bodyPr>
          <a:lstStyle/>
          <a:p>
            <a:pPr algn="l">
              <a:lnSpc>
                <a:spcPts val="2939"/>
              </a:lnSpc>
            </a:pPr>
            <a:r>
              <a:rPr lang="en-US" sz="2099">
                <a:solidFill>
                  <a:srgbClr val="FFFFFF"/>
                </a:solidFill>
                <a:latin typeface="Open Sans"/>
                <a:ea typeface="Open Sans"/>
                <a:cs typeface="Open Sans"/>
                <a:sym typeface="Open Sans"/>
              </a:rPr>
              <a:t>Rated Games: With a p-value near zero, we reject H0​. This indicates the population is overwhelmingly competitive, with approximately 80.5% of games being rated.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4">
              <a:extLst>
                <a:ext uri="{96DAC541-7B7A-43D3-8B79-37D633B846F1}">
                  <asvg:svgBlip xmlns:asvg="http://schemas.microsoft.com/office/drawing/2016/SVG/main" r:embed="rId5"/>
                </a:ext>
              </a:extLst>
            </a:blip>
            <a:stretch>
              <a:fillRect t="-419" b="-424"/>
            </a:stretch>
          </a:blipFill>
        </p:spPr>
        <p:txBody>
          <a:bodyPr/>
          <a:lstStyle/>
          <a:p>
            <a:endParaRPr lang="en-US"/>
          </a:p>
        </p:txBody>
      </p:sp>
      <p:grpSp>
        <p:nvGrpSpPr>
          <p:cNvPr id="4" name="Group 4"/>
          <p:cNvGrpSpPr/>
          <p:nvPr/>
        </p:nvGrpSpPr>
        <p:grpSpPr>
          <a:xfrm>
            <a:off x="-136350" y="-1716224"/>
            <a:ext cx="6601092" cy="4061393"/>
            <a:chOff x="0" y="0"/>
            <a:chExt cx="8801456" cy="5415191"/>
          </a:xfrm>
        </p:grpSpPr>
        <p:sp>
          <p:nvSpPr>
            <p:cNvPr id="5" name="Freeform 5"/>
            <p:cNvSpPr/>
            <p:nvPr/>
          </p:nvSpPr>
          <p:spPr>
            <a:xfrm>
              <a:off x="0" y="0"/>
              <a:ext cx="8801481" cy="5415153"/>
            </a:xfrm>
            <a:custGeom>
              <a:avLst/>
              <a:gdLst/>
              <a:ahLst/>
              <a:cxnLst/>
              <a:rect l="l" t="t" r="r" b="b"/>
              <a:pathLst>
                <a:path w="8801481" h="5415153">
                  <a:moveTo>
                    <a:pt x="0" y="0"/>
                  </a:moveTo>
                  <a:lnTo>
                    <a:pt x="8801481" y="0"/>
                  </a:lnTo>
                  <a:lnTo>
                    <a:pt x="8801481" y="5415153"/>
                  </a:lnTo>
                  <a:lnTo>
                    <a:pt x="0" y="5415153"/>
                  </a:lnTo>
                  <a:close/>
                </a:path>
              </a:pathLst>
            </a:custGeom>
            <a:blipFill>
              <a:blip r:embed="rId6"/>
              <a:stretch>
                <a:fillRect l="-108" r="-108"/>
              </a:stretch>
            </a:blipFill>
          </p:spPr>
          <p:txBody>
            <a:bodyPr/>
            <a:lstStyle/>
            <a:p>
              <a:endParaRPr lang="en-US"/>
            </a:p>
          </p:txBody>
        </p:sp>
      </p:grpSp>
      <p:grpSp>
        <p:nvGrpSpPr>
          <p:cNvPr id="6" name="Group 6"/>
          <p:cNvGrpSpPr/>
          <p:nvPr/>
        </p:nvGrpSpPr>
        <p:grpSpPr>
          <a:xfrm>
            <a:off x="11349085" y="-1351417"/>
            <a:ext cx="6601092" cy="4061393"/>
            <a:chOff x="0" y="0"/>
            <a:chExt cx="8801456" cy="5415191"/>
          </a:xfrm>
        </p:grpSpPr>
        <p:sp>
          <p:nvSpPr>
            <p:cNvPr id="7" name="Freeform 7"/>
            <p:cNvSpPr/>
            <p:nvPr/>
          </p:nvSpPr>
          <p:spPr>
            <a:xfrm>
              <a:off x="0" y="0"/>
              <a:ext cx="8801481" cy="5415153"/>
            </a:xfrm>
            <a:custGeom>
              <a:avLst/>
              <a:gdLst/>
              <a:ahLst/>
              <a:cxnLst/>
              <a:rect l="l" t="t" r="r" b="b"/>
              <a:pathLst>
                <a:path w="8801481" h="5415153">
                  <a:moveTo>
                    <a:pt x="0" y="0"/>
                  </a:moveTo>
                  <a:lnTo>
                    <a:pt x="8801481" y="0"/>
                  </a:lnTo>
                  <a:lnTo>
                    <a:pt x="8801481" y="5415153"/>
                  </a:lnTo>
                  <a:lnTo>
                    <a:pt x="0" y="5415153"/>
                  </a:lnTo>
                  <a:close/>
                </a:path>
              </a:pathLst>
            </a:custGeom>
            <a:blipFill>
              <a:blip r:embed="rId7"/>
              <a:stretch>
                <a:fillRect l="-4689" r="-4689"/>
              </a:stretch>
            </a:blipFill>
          </p:spPr>
          <p:txBody>
            <a:bodyPr/>
            <a:lstStyle/>
            <a:p>
              <a:endParaRPr lang="en-US"/>
            </a:p>
          </p:txBody>
        </p:sp>
      </p:grpSp>
      <p:grpSp>
        <p:nvGrpSpPr>
          <p:cNvPr id="8" name="Group 8"/>
          <p:cNvGrpSpPr/>
          <p:nvPr/>
        </p:nvGrpSpPr>
        <p:grpSpPr>
          <a:xfrm>
            <a:off x="6750491" y="-1440952"/>
            <a:ext cx="4312844" cy="4061393"/>
            <a:chOff x="0" y="0"/>
            <a:chExt cx="5750458" cy="5415191"/>
          </a:xfrm>
        </p:grpSpPr>
        <p:sp>
          <p:nvSpPr>
            <p:cNvPr id="9" name="Freeform 9"/>
            <p:cNvSpPr/>
            <p:nvPr/>
          </p:nvSpPr>
          <p:spPr>
            <a:xfrm>
              <a:off x="0" y="0"/>
              <a:ext cx="5750433" cy="5415153"/>
            </a:xfrm>
            <a:custGeom>
              <a:avLst/>
              <a:gdLst/>
              <a:ahLst/>
              <a:cxnLst/>
              <a:rect l="l" t="t" r="r" b="b"/>
              <a:pathLst>
                <a:path w="5750433" h="5415153">
                  <a:moveTo>
                    <a:pt x="0" y="0"/>
                  </a:moveTo>
                  <a:lnTo>
                    <a:pt x="5750433" y="0"/>
                  </a:lnTo>
                  <a:lnTo>
                    <a:pt x="5750433" y="5415153"/>
                  </a:lnTo>
                  <a:lnTo>
                    <a:pt x="0" y="5415153"/>
                  </a:lnTo>
                  <a:close/>
                </a:path>
              </a:pathLst>
            </a:custGeom>
            <a:blipFill>
              <a:blip r:embed="rId8"/>
              <a:stretch>
                <a:fillRect l="-20559" r="-20559"/>
              </a:stretch>
            </a:blipFill>
          </p:spPr>
          <p:txBody>
            <a:bodyPr/>
            <a:lstStyle/>
            <a:p>
              <a:endParaRPr lang="en-US"/>
            </a:p>
          </p:txBody>
        </p:sp>
      </p:grpSp>
      <p:sp>
        <p:nvSpPr>
          <p:cNvPr id="10" name="TextBox 10"/>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About</a:t>
            </a:r>
          </a:p>
        </p:txBody>
      </p:sp>
      <p:sp>
        <p:nvSpPr>
          <p:cNvPr id="11" name="TextBox 11"/>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Project</a:t>
            </a:r>
          </a:p>
        </p:txBody>
      </p:sp>
      <p:sp>
        <p:nvSpPr>
          <p:cNvPr id="12" name="TextBox 12"/>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13" name="TextBox 13"/>
          <p:cNvSpPr txBox="1"/>
          <p:nvPr/>
        </p:nvSpPr>
        <p:spPr>
          <a:xfrm>
            <a:off x="743264" y="3179578"/>
            <a:ext cx="9280350" cy="801576"/>
          </a:xfrm>
          <a:prstGeom prst="rect">
            <a:avLst/>
          </a:prstGeom>
        </p:spPr>
        <p:txBody>
          <a:bodyPr lIns="0" tIns="0" rIns="0" bIns="0" rtlCol="0" anchor="t">
            <a:spAutoFit/>
          </a:bodyPr>
          <a:lstStyle/>
          <a:p>
            <a:pPr algn="ctr">
              <a:lnSpc>
                <a:spcPts val="7183"/>
              </a:lnSpc>
            </a:pPr>
            <a:r>
              <a:rPr lang="en-US" sz="7183" dirty="0">
                <a:solidFill>
                  <a:srgbClr val="FFFFFF"/>
                </a:solidFill>
                <a:latin typeface="Archivo Black"/>
                <a:ea typeface="Archivo Black"/>
                <a:cs typeface="Archivo Black"/>
                <a:sym typeface="Archivo Black"/>
              </a:rPr>
              <a:t>Sample Mean Test</a:t>
            </a:r>
          </a:p>
        </p:txBody>
      </p:sp>
      <p:sp>
        <p:nvSpPr>
          <p:cNvPr id="14" name="TextBox 14"/>
          <p:cNvSpPr txBox="1"/>
          <p:nvPr/>
        </p:nvSpPr>
        <p:spPr>
          <a:xfrm>
            <a:off x="891969" y="5648744"/>
            <a:ext cx="4222471" cy="686010"/>
          </a:xfrm>
          <a:prstGeom prst="rect">
            <a:avLst/>
          </a:prstGeom>
        </p:spPr>
        <p:txBody>
          <a:bodyPr lIns="0" tIns="0" rIns="0" bIns="0" rtlCol="0" anchor="t">
            <a:spAutoFit/>
          </a:bodyPr>
          <a:lstStyle/>
          <a:p>
            <a:pPr algn="ctr">
              <a:lnSpc>
                <a:spcPts val="1883"/>
              </a:lnSpc>
            </a:pPr>
            <a:r>
              <a:rPr lang="en-US" sz="1883" dirty="0">
                <a:solidFill>
                  <a:srgbClr val="FFFFFF"/>
                </a:solidFill>
                <a:latin typeface="Open Sans"/>
                <a:ea typeface="Open Sans"/>
                <a:cs typeface="Open Sans"/>
                <a:sym typeface="Open Sans"/>
              </a:rPr>
              <a:t>We performed a one-sample t-test to compare the population means against specific benchmarks.</a:t>
            </a:r>
          </a:p>
        </p:txBody>
      </p:sp>
      <p:graphicFrame>
        <p:nvGraphicFramePr>
          <p:cNvPr id="15" name="Table 14">
            <a:extLst>
              <a:ext uri="{FF2B5EF4-FFF2-40B4-BE49-F238E27FC236}">
                <a16:creationId xmlns:a16="http://schemas.microsoft.com/office/drawing/2014/main" id="{A9EF47AF-0DFF-D10B-2D68-7E28CEA16849}"/>
              </a:ext>
            </a:extLst>
          </p:cNvPr>
          <p:cNvGraphicFramePr>
            <a:graphicFrameLocks noGrp="1"/>
          </p:cNvGraphicFramePr>
          <p:nvPr>
            <p:extLst>
              <p:ext uri="{D42A27DB-BD31-4B8C-83A1-F6EECF244321}">
                <p14:modId xmlns:p14="http://schemas.microsoft.com/office/powerpoint/2010/main" val="3931342731"/>
              </p:ext>
            </p:extLst>
          </p:nvPr>
        </p:nvGraphicFramePr>
        <p:xfrm>
          <a:off x="6629400" y="5143500"/>
          <a:ext cx="8229600" cy="3017520"/>
        </p:xfrm>
        <a:graphic>
          <a:graphicData uri="http://schemas.openxmlformats.org/drawingml/2006/table">
            <a:tbl>
              <a:tblPr/>
              <a:tblGrid>
                <a:gridCol w="1371600">
                  <a:extLst>
                    <a:ext uri="{9D8B030D-6E8A-4147-A177-3AD203B41FA5}">
                      <a16:colId xmlns:a16="http://schemas.microsoft.com/office/drawing/2014/main" val="3355096721"/>
                    </a:ext>
                  </a:extLst>
                </a:gridCol>
                <a:gridCol w="1371600">
                  <a:extLst>
                    <a:ext uri="{9D8B030D-6E8A-4147-A177-3AD203B41FA5}">
                      <a16:colId xmlns:a16="http://schemas.microsoft.com/office/drawing/2014/main" val="1190358717"/>
                    </a:ext>
                  </a:extLst>
                </a:gridCol>
                <a:gridCol w="1371600">
                  <a:extLst>
                    <a:ext uri="{9D8B030D-6E8A-4147-A177-3AD203B41FA5}">
                      <a16:colId xmlns:a16="http://schemas.microsoft.com/office/drawing/2014/main" val="3260241032"/>
                    </a:ext>
                  </a:extLst>
                </a:gridCol>
                <a:gridCol w="1371600">
                  <a:extLst>
                    <a:ext uri="{9D8B030D-6E8A-4147-A177-3AD203B41FA5}">
                      <a16:colId xmlns:a16="http://schemas.microsoft.com/office/drawing/2014/main" val="2026572012"/>
                    </a:ext>
                  </a:extLst>
                </a:gridCol>
                <a:gridCol w="1371600">
                  <a:extLst>
                    <a:ext uri="{9D8B030D-6E8A-4147-A177-3AD203B41FA5}">
                      <a16:colId xmlns:a16="http://schemas.microsoft.com/office/drawing/2014/main" val="3777849684"/>
                    </a:ext>
                  </a:extLst>
                </a:gridCol>
                <a:gridCol w="1371600">
                  <a:extLst>
                    <a:ext uri="{9D8B030D-6E8A-4147-A177-3AD203B41FA5}">
                      <a16:colId xmlns:a16="http://schemas.microsoft.com/office/drawing/2014/main" val="775504112"/>
                    </a:ext>
                  </a:extLst>
                </a:gridCol>
              </a:tblGrid>
              <a:tr h="502920">
                <a:tc>
                  <a:txBody>
                    <a:bodyPr/>
                    <a:lstStyle/>
                    <a:p>
                      <a:pPr>
                        <a:buNone/>
                      </a:pPr>
                      <a:r>
                        <a:rPr lang="en-US" b="1" dirty="0">
                          <a:solidFill>
                            <a:schemeClr val="bg1"/>
                          </a:solidFill>
                          <a:effectLst/>
                        </a:rPr>
                        <a:t>Variable</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b="1">
                          <a:solidFill>
                            <a:schemeClr val="bg1"/>
                          </a:solidFill>
                          <a:effectLst/>
                        </a:rPr>
                        <a:t>Sample Mean (xˉ)</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b="1">
                          <a:solidFill>
                            <a:schemeClr val="bg1"/>
                          </a:solidFill>
                          <a:effectLst/>
                        </a:rPr>
                        <a:t>95% Confidence Interval</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b="1">
                          <a:solidFill>
                            <a:schemeClr val="bg1"/>
                          </a:solidFill>
                          <a:effectLst/>
                        </a:rPr>
                        <a:t>Test Statistic (t)</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b="1">
                          <a:solidFill>
                            <a:schemeClr val="bg1"/>
                          </a:solidFill>
                          <a:effectLst/>
                        </a:rPr>
                        <a:t>P-Value</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b="1">
                          <a:solidFill>
                            <a:schemeClr val="bg1"/>
                          </a:solidFill>
                          <a:effectLst/>
                        </a:rPr>
                        <a:t>Decision</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3107118667"/>
                  </a:ext>
                </a:extLst>
              </a:tr>
              <a:tr h="502920">
                <a:tc>
                  <a:txBody>
                    <a:bodyPr/>
                    <a:lstStyle/>
                    <a:p>
                      <a:pPr algn="l" rtl="0">
                        <a:buNone/>
                      </a:pPr>
                      <a:r>
                        <a:rPr lang="en-US" b="1" i="0">
                          <a:solidFill>
                            <a:schemeClr val="bg1"/>
                          </a:solidFill>
                          <a:effectLst/>
                        </a:rPr>
                        <a:t>White Rating</a:t>
                      </a:r>
                      <a:r>
                        <a:rPr lang="en-US" b="0" i="0">
                          <a:solidFill>
                            <a:schemeClr val="bg1"/>
                          </a:solidFill>
                          <a:effectLst/>
                        </a:rPr>
                        <a:t> ($H_0: \mu=1500$)</a:t>
                      </a:r>
                      <a:endParaRPr lang="en-US">
                        <a:solidFill>
                          <a:schemeClr val="bg1"/>
                        </a:solidFill>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dirty="0">
                          <a:solidFill>
                            <a:schemeClr val="bg1"/>
                          </a:solidFill>
                          <a:effectLst/>
                        </a:rPr>
                        <a:t>1596.63</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solidFill>
                            <a:schemeClr val="bg1"/>
                          </a:solidFill>
                          <a:effectLst/>
                        </a:rPr>
                        <a:t>[1591.95, 1601.31]</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solidFill>
                            <a:schemeClr val="bg1"/>
                          </a:solidFill>
                          <a:effectLst/>
                        </a:rPr>
                        <a:t>40.52</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solidFill>
                            <a:schemeClr val="bg1"/>
                          </a:solidFill>
                          <a:effectLst/>
                        </a:rPr>
                        <a:t>&lt; 2.2e-16</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b="1">
                          <a:solidFill>
                            <a:schemeClr val="bg1"/>
                          </a:solidFill>
                          <a:effectLst/>
                        </a:rPr>
                        <a:t>Reject Ha</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3383013318"/>
                  </a:ext>
                </a:extLst>
              </a:tr>
              <a:tr h="502920">
                <a:tc>
                  <a:txBody>
                    <a:bodyPr/>
                    <a:lstStyle/>
                    <a:p>
                      <a:pPr algn="l" rtl="0">
                        <a:buNone/>
                      </a:pPr>
                      <a:r>
                        <a:rPr lang="de-DE" b="1" i="0">
                          <a:solidFill>
                            <a:schemeClr val="bg1"/>
                          </a:solidFill>
                          <a:effectLst/>
                        </a:rPr>
                        <a:t>Turns</a:t>
                      </a:r>
                      <a:r>
                        <a:rPr lang="de-DE" b="0" i="0">
                          <a:solidFill>
                            <a:schemeClr val="bg1"/>
                          </a:solidFill>
                          <a:effectLst/>
                        </a:rPr>
                        <a:t> ($H_0: \mu=60$)</a:t>
                      </a:r>
                      <a:endParaRPr lang="de-DE">
                        <a:solidFill>
                          <a:schemeClr val="bg1"/>
                        </a:solidFill>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solidFill>
                            <a:schemeClr val="bg1"/>
                          </a:solidFill>
                          <a:effectLst/>
                        </a:rPr>
                        <a:t>60.48</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solidFill>
                            <a:schemeClr val="bg1"/>
                          </a:solidFill>
                          <a:effectLst/>
                        </a:rPr>
                        <a:t>[59.98, 60.97]</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solidFill>
                            <a:schemeClr val="bg1"/>
                          </a:solidFill>
                          <a:effectLst/>
                        </a:rPr>
                        <a:t>0.31</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a:solidFill>
                            <a:schemeClr val="bg1"/>
                          </a:solidFill>
                          <a:effectLst/>
                        </a:rPr>
                        <a:t>0.756</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tc>
                  <a:txBody>
                    <a:bodyPr/>
                    <a:lstStyle/>
                    <a:p>
                      <a:pPr>
                        <a:buNone/>
                      </a:pPr>
                      <a:r>
                        <a:rPr lang="en-US" dirty="0">
                          <a:solidFill>
                            <a:schemeClr val="bg1"/>
                          </a:solidFill>
                          <a:effectLst/>
                        </a:rPr>
                        <a:t>Fail to Reject Ha</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3520855751"/>
                  </a:ext>
                </a:extLst>
              </a:tr>
            </a:tbl>
          </a:graphicData>
        </a:graphic>
      </p:graphicFrame>
      <p:sp>
        <p:nvSpPr>
          <p:cNvPr id="16" name="Rectangle 1">
            <a:extLst>
              <a:ext uri="{FF2B5EF4-FFF2-40B4-BE49-F238E27FC236}">
                <a16:creationId xmlns:a16="http://schemas.microsoft.com/office/drawing/2014/main" id="{B2C2CCAD-8359-1141-5E3F-39AE4B143D88}"/>
              </a:ext>
            </a:extLst>
          </p:cNvPr>
          <p:cNvSpPr>
            <a:spLocks noChangeArrowheads="1"/>
          </p:cNvSpPr>
          <p:nvPr/>
        </p:nvSpPr>
        <p:spPr bwMode="auto">
          <a:xfrm>
            <a:off x="6629400" y="5143342"/>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4">
              <a:extLst>
                <a:ext uri="{96DAC541-7B7A-43D3-8B79-37D633B846F1}">
                  <asvg:svgBlip xmlns:asvg="http://schemas.microsoft.com/office/drawing/2016/SVG/main" r:embed="rId5"/>
                </a:ext>
              </a:extLst>
            </a:blip>
            <a:stretch>
              <a:fillRect t="-419" b="-424"/>
            </a:stretch>
          </a:blipFill>
        </p:spPr>
        <p:txBody>
          <a:bodyPr/>
          <a:lstStyle/>
          <a:p>
            <a:endParaRPr lang="en-US"/>
          </a:p>
        </p:txBody>
      </p:sp>
      <p:grpSp>
        <p:nvGrpSpPr>
          <p:cNvPr id="4" name="Group 4"/>
          <p:cNvGrpSpPr/>
          <p:nvPr/>
        </p:nvGrpSpPr>
        <p:grpSpPr>
          <a:xfrm>
            <a:off x="0" y="1028700"/>
            <a:ext cx="6601092" cy="3846643"/>
            <a:chOff x="0" y="0"/>
            <a:chExt cx="8801456" cy="5128857"/>
          </a:xfrm>
        </p:grpSpPr>
        <p:sp>
          <p:nvSpPr>
            <p:cNvPr id="5" name="Freeform 5"/>
            <p:cNvSpPr/>
            <p:nvPr/>
          </p:nvSpPr>
          <p:spPr>
            <a:xfrm>
              <a:off x="0" y="0"/>
              <a:ext cx="8801481" cy="5128895"/>
            </a:xfrm>
            <a:custGeom>
              <a:avLst/>
              <a:gdLst/>
              <a:ahLst/>
              <a:cxnLst/>
              <a:rect l="l" t="t" r="r" b="b"/>
              <a:pathLst>
                <a:path w="8801481" h="5128895">
                  <a:moveTo>
                    <a:pt x="0" y="0"/>
                  </a:moveTo>
                  <a:lnTo>
                    <a:pt x="8801481" y="0"/>
                  </a:lnTo>
                  <a:lnTo>
                    <a:pt x="8801481" y="5128895"/>
                  </a:lnTo>
                  <a:lnTo>
                    <a:pt x="0" y="5128895"/>
                  </a:lnTo>
                  <a:close/>
                </a:path>
              </a:pathLst>
            </a:custGeom>
            <a:blipFill>
              <a:blip r:embed="rId6"/>
              <a:stretch>
                <a:fillRect l="-1793" r="-1793"/>
              </a:stretch>
            </a:blipFill>
          </p:spPr>
          <p:txBody>
            <a:bodyPr/>
            <a:lstStyle/>
            <a:p>
              <a:endParaRPr lang="en-US"/>
            </a:p>
          </p:txBody>
        </p:sp>
      </p:grpSp>
      <p:grpSp>
        <p:nvGrpSpPr>
          <p:cNvPr id="6" name="Group 6"/>
          <p:cNvGrpSpPr/>
          <p:nvPr/>
        </p:nvGrpSpPr>
        <p:grpSpPr>
          <a:xfrm>
            <a:off x="1700746" y="5411657"/>
            <a:ext cx="6601092" cy="3846643"/>
            <a:chOff x="0" y="0"/>
            <a:chExt cx="8801456" cy="5128857"/>
          </a:xfrm>
        </p:grpSpPr>
        <p:sp>
          <p:nvSpPr>
            <p:cNvPr id="7" name="Freeform 7"/>
            <p:cNvSpPr/>
            <p:nvPr/>
          </p:nvSpPr>
          <p:spPr>
            <a:xfrm>
              <a:off x="0" y="0"/>
              <a:ext cx="8801481" cy="5128895"/>
            </a:xfrm>
            <a:custGeom>
              <a:avLst/>
              <a:gdLst/>
              <a:ahLst/>
              <a:cxnLst/>
              <a:rect l="l" t="t" r="r" b="b"/>
              <a:pathLst>
                <a:path w="8801481" h="5128895">
                  <a:moveTo>
                    <a:pt x="0" y="0"/>
                  </a:moveTo>
                  <a:lnTo>
                    <a:pt x="8801481" y="0"/>
                  </a:lnTo>
                  <a:lnTo>
                    <a:pt x="8801481" y="5128895"/>
                  </a:lnTo>
                  <a:lnTo>
                    <a:pt x="0" y="5128895"/>
                  </a:lnTo>
                  <a:close/>
                </a:path>
              </a:pathLst>
            </a:custGeom>
            <a:blipFill>
              <a:blip r:embed="rId7"/>
              <a:stretch>
                <a:fillRect t="-7202" b="-7201"/>
              </a:stretch>
            </a:blipFill>
          </p:spPr>
          <p:txBody>
            <a:bodyPr/>
            <a:lstStyle/>
            <a:p>
              <a:endParaRPr lang="en-US"/>
            </a:p>
          </p:txBody>
        </p:sp>
      </p:grpSp>
      <p:sp>
        <p:nvSpPr>
          <p:cNvPr id="9" name="TextBox 9"/>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About</a:t>
            </a:r>
          </a:p>
        </p:txBody>
      </p:sp>
      <p:sp>
        <p:nvSpPr>
          <p:cNvPr id="10" name="TextBox 10"/>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Project</a:t>
            </a:r>
          </a:p>
        </p:txBody>
      </p:sp>
      <p:sp>
        <p:nvSpPr>
          <p:cNvPr id="11" name="TextBox 11"/>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12" name="TextBox 12"/>
          <p:cNvSpPr txBox="1"/>
          <p:nvPr/>
        </p:nvSpPr>
        <p:spPr>
          <a:xfrm>
            <a:off x="9401861" y="3740744"/>
            <a:ext cx="7515654" cy="801576"/>
          </a:xfrm>
          <a:prstGeom prst="rect">
            <a:avLst/>
          </a:prstGeom>
        </p:spPr>
        <p:txBody>
          <a:bodyPr lIns="0" tIns="0" rIns="0" bIns="0" rtlCol="0" anchor="t">
            <a:spAutoFit/>
          </a:bodyPr>
          <a:lstStyle/>
          <a:p>
            <a:pPr algn="l">
              <a:lnSpc>
                <a:spcPts val="7183"/>
              </a:lnSpc>
            </a:pPr>
            <a:r>
              <a:rPr lang="en-US" sz="7183" dirty="0">
                <a:solidFill>
                  <a:srgbClr val="FFFFFF"/>
                </a:solidFill>
                <a:latin typeface="Archivo Black"/>
                <a:ea typeface="Archivo Black"/>
                <a:cs typeface="Archivo Black"/>
                <a:sym typeface="Archivo Black"/>
              </a:rPr>
              <a:t>Interpretation:</a:t>
            </a:r>
          </a:p>
        </p:txBody>
      </p:sp>
      <p:sp>
        <p:nvSpPr>
          <p:cNvPr id="13" name="TextBox 13"/>
          <p:cNvSpPr txBox="1"/>
          <p:nvPr/>
        </p:nvSpPr>
        <p:spPr>
          <a:xfrm>
            <a:off x="9401861" y="5354507"/>
            <a:ext cx="7857439" cy="3059049"/>
          </a:xfrm>
          <a:prstGeom prst="rect">
            <a:avLst/>
          </a:prstGeom>
        </p:spPr>
        <p:txBody>
          <a:bodyPr lIns="0" tIns="0" rIns="0" bIns="0" rtlCol="0" anchor="t">
            <a:spAutoFit/>
          </a:bodyPr>
          <a:lstStyle/>
          <a:p>
            <a:pPr algn="l">
              <a:lnSpc>
                <a:spcPts val="2207"/>
              </a:lnSpc>
            </a:pPr>
            <a:r>
              <a:rPr lang="en-US" sz="1599" dirty="0">
                <a:solidFill>
                  <a:srgbClr val="FFFFFF"/>
                </a:solidFill>
                <a:latin typeface="Canva Sans"/>
                <a:ea typeface="Canva Sans"/>
                <a:cs typeface="Canva Sans"/>
                <a:sym typeface="Canva Sans"/>
              </a:rPr>
              <a:t>White Rating: The sample mean (1596.63) is significantly higher than the 1500 benchmark. The p-value is extremely low (&lt;0.05), and the confidence interval does not include 1500, confirming that the population average skill level is above the baseline.</a:t>
            </a:r>
          </a:p>
          <a:p>
            <a:pPr algn="l">
              <a:lnSpc>
                <a:spcPts val="2207"/>
              </a:lnSpc>
            </a:pPr>
            <a:endParaRPr lang="en-US" sz="1599" dirty="0">
              <a:solidFill>
                <a:srgbClr val="FFFFFF"/>
              </a:solidFill>
              <a:latin typeface="Canva Sans"/>
              <a:ea typeface="Canva Sans"/>
              <a:cs typeface="Canva Sans"/>
              <a:sym typeface="Canva Sans"/>
            </a:endParaRPr>
          </a:p>
          <a:p>
            <a:pPr algn="l">
              <a:lnSpc>
                <a:spcPts val="2207"/>
              </a:lnSpc>
            </a:pPr>
            <a:endParaRPr lang="en-US" sz="1599" dirty="0">
              <a:solidFill>
                <a:srgbClr val="FFFFFF"/>
              </a:solidFill>
              <a:latin typeface="Canva Sans"/>
              <a:ea typeface="Canva Sans"/>
              <a:cs typeface="Canva Sans"/>
              <a:sym typeface="Canva Sans"/>
            </a:endParaRPr>
          </a:p>
          <a:p>
            <a:pPr algn="l">
              <a:lnSpc>
                <a:spcPts val="2207"/>
              </a:lnSpc>
            </a:pPr>
            <a:endParaRPr lang="en-US" sz="1599" dirty="0">
              <a:solidFill>
                <a:srgbClr val="FFFFFF"/>
              </a:solidFill>
              <a:latin typeface="Canva Sans"/>
              <a:ea typeface="Canva Sans"/>
              <a:cs typeface="Canva Sans"/>
              <a:sym typeface="Canva Sans"/>
            </a:endParaRPr>
          </a:p>
          <a:p>
            <a:pPr algn="l">
              <a:lnSpc>
                <a:spcPts val="2207"/>
              </a:lnSpc>
            </a:pPr>
            <a:r>
              <a:rPr lang="en-US" sz="1599" dirty="0">
                <a:solidFill>
                  <a:srgbClr val="FFFFFF"/>
                </a:solidFill>
                <a:latin typeface="Canva Sans"/>
                <a:ea typeface="Canva Sans"/>
                <a:cs typeface="Canva Sans"/>
                <a:sym typeface="Canva Sans"/>
              </a:rPr>
              <a:t>Number of Turns: The sample mean is 60.48. Because the p-value (0.756) is greater than 0.05, we fail to reject the null hypothesis. We conclude that the true population mean for game length is approximately 60 turns, as the confidence interval [59.98, 60.97] very clearly includes 60.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a:extLst>
            <a:ext uri="{FF2B5EF4-FFF2-40B4-BE49-F238E27FC236}">
              <a16:creationId xmlns:a16="http://schemas.microsoft.com/office/drawing/2014/main" id="{3A5DFF80-6CD3-9A89-35FE-6ABBC4555A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06A203A-3E2A-1BBB-FDF4-2B592179481F}"/>
              </a:ext>
            </a:extLst>
          </p:cNvPr>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6F5D4D55-87E5-EEFA-EA77-B0F4A5989D4C}"/>
              </a:ext>
            </a:extLst>
          </p:cNvPr>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5">
              <a:extLst>
                <a:ext uri="{96DAC541-7B7A-43D3-8B79-37D633B846F1}">
                  <asvg:svgBlip xmlns:asvg="http://schemas.microsoft.com/office/drawing/2016/SVG/main" r:embed="rId6"/>
                </a:ext>
              </a:extLst>
            </a:blip>
            <a:stretch>
              <a:fillRect t="-419" b="-424"/>
            </a:stretch>
          </a:blipFill>
        </p:spPr>
        <p:txBody>
          <a:bodyPr/>
          <a:lstStyle/>
          <a:p>
            <a:endParaRPr lang="en-US"/>
          </a:p>
        </p:txBody>
      </p:sp>
      <p:sp>
        <p:nvSpPr>
          <p:cNvPr id="4" name="TextBox 4">
            <a:extLst>
              <a:ext uri="{FF2B5EF4-FFF2-40B4-BE49-F238E27FC236}">
                <a16:creationId xmlns:a16="http://schemas.microsoft.com/office/drawing/2014/main" id="{57E8A1AD-EBC9-B77D-F279-E2AA219B8A18}"/>
              </a:ext>
            </a:extLst>
          </p:cNvPr>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About</a:t>
            </a:r>
          </a:p>
        </p:txBody>
      </p:sp>
      <p:sp>
        <p:nvSpPr>
          <p:cNvPr id="5" name="TextBox 5">
            <a:extLst>
              <a:ext uri="{FF2B5EF4-FFF2-40B4-BE49-F238E27FC236}">
                <a16:creationId xmlns:a16="http://schemas.microsoft.com/office/drawing/2014/main" id="{34365FE0-5F4E-9924-EAA6-DBA8316A0369}"/>
              </a:ext>
            </a:extLst>
          </p:cNvPr>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Project</a:t>
            </a:r>
          </a:p>
        </p:txBody>
      </p:sp>
      <p:sp>
        <p:nvSpPr>
          <p:cNvPr id="6" name="TextBox 6">
            <a:extLst>
              <a:ext uri="{FF2B5EF4-FFF2-40B4-BE49-F238E27FC236}">
                <a16:creationId xmlns:a16="http://schemas.microsoft.com/office/drawing/2014/main" id="{AFCDEB9D-4E4D-77C0-A43E-D844D67C2890}"/>
              </a:ext>
            </a:extLst>
          </p:cNvPr>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14" name="TextBox 13">
            <a:extLst>
              <a:ext uri="{FF2B5EF4-FFF2-40B4-BE49-F238E27FC236}">
                <a16:creationId xmlns:a16="http://schemas.microsoft.com/office/drawing/2014/main" id="{11AC663D-3DF6-16F9-E590-4616582D0F8E}"/>
              </a:ext>
            </a:extLst>
          </p:cNvPr>
          <p:cNvSpPr txBox="1"/>
          <p:nvPr/>
        </p:nvSpPr>
        <p:spPr>
          <a:xfrm>
            <a:off x="0" y="1333500"/>
            <a:ext cx="18288000" cy="1027204"/>
          </a:xfrm>
          <a:prstGeom prst="rect">
            <a:avLst/>
          </a:prstGeom>
          <a:noFill/>
        </p:spPr>
        <p:txBody>
          <a:bodyPr wrap="square">
            <a:spAutoFit/>
          </a:bodyPr>
          <a:lstStyle/>
          <a:p>
            <a:pPr algn="ctr">
              <a:lnSpc>
                <a:spcPts val="7183"/>
              </a:lnSpc>
            </a:pPr>
            <a:r>
              <a:rPr lang="en-US" sz="6800" b="1" dirty="0">
                <a:solidFill>
                  <a:srgbClr val="FFFFFF"/>
                </a:solidFill>
                <a:latin typeface="Archivo Black"/>
                <a:ea typeface="Archivo Black"/>
                <a:cs typeface="Archivo Black"/>
                <a:sym typeface="Archivo Black"/>
              </a:rPr>
              <a:t>Anova</a:t>
            </a:r>
            <a:r>
              <a:rPr lang="en-US" sz="6800" dirty="0">
                <a:solidFill>
                  <a:srgbClr val="FFFFFF"/>
                </a:solidFill>
                <a:latin typeface="Archivo Black"/>
                <a:ea typeface="Archivo Black"/>
                <a:cs typeface="Archivo Black"/>
                <a:sym typeface="Archivo Black"/>
              </a:rPr>
              <a:t> :</a:t>
            </a:r>
            <a:r>
              <a:rPr lang="en-US" sz="6800" dirty="0">
                <a:solidFill>
                  <a:schemeClr val="bg1"/>
                </a:solidFill>
                <a:latin typeface="Archivo Black" panose="020B0604020202020204" charset="0"/>
              </a:rPr>
              <a:t>White Rating vs Game Winner</a:t>
            </a:r>
            <a:r>
              <a:rPr lang="en-US" sz="6800" dirty="0">
                <a:solidFill>
                  <a:srgbClr val="FFFFFF"/>
                </a:solidFill>
                <a:latin typeface="Archivo Black" panose="020B0604020202020204" charset="0"/>
                <a:ea typeface="Archivo Black"/>
                <a:cs typeface="Archivo Black"/>
                <a:sym typeface="Archivo Black"/>
              </a:rPr>
              <a:t> </a:t>
            </a:r>
          </a:p>
        </p:txBody>
      </p:sp>
      <mc:AlternateContent xmlns:mc="http://schemas.openxmlformats.org/markup-compatibility/2006">
        <mc:Choice xmlns:a14="http://schemas.microsoft.com/office/drawing/2010/main" Requires="a14">
          <p:graphicFrame>
            <p:nvGraphicFramePr>
              <p:cNvPr id="15" name="Table 14">
                <a:extLst>
                  <a:ext uri="{FF2B5EF4-FFF2-40B4-BE49-F238E27FC236}">
                    <a16:creationId xmlns:a16="http://schemas.microsoft.com/office/drawing/2014/main" id="{1ABDA2D6-03F9-AF9C-79E5-4C33253B1353}"/>
                  </a:ext>
                </a:extLst>
              </p:cNvPr>
              <p:cNvGraphicFramePr>
                <a:graphicFrameLocks noGrp="1"/>
              </p:cNvGraphicFramePr>
              <p:nvPr/>
            </p:nvGraphicFramePr>
            <p:xfrm>
              <a:off x="457200" y="2994500"/>
              <a:ext cx="15087600" cy="3977799"/>
            </p:xfrm>
            <a:graphic>
              <a:graphicData uri="http://schemas.openxmlformats.org/drawingml/2006/table">
                <a:tbl>
                  <a:tblPr/>
                  <a:tblGrid>
                    <a:gridCol w="2514600">
                      <a:extLst>
                        <a:ext uri="{9D8B030D-6E8A-4147-A177-3AD203B41FA5}">
                          <a16:colId xmlns:a16="http://schemas.microsoft.com/office/drawing/2014/main" val="3870554578"/>
                        </a:ext>
                      </a:extLst>
                    </a:gridCol>
                    <a:gridCol w="2514600">
                      <a:extLst>
                        <a:ext uri="{9D8B030D-6E8A-4147-A177-3AD203B41FA5}">
                          <a16:colId xmlns:a16="http://schemas.microsoft.com/office/drawing/2014/main" val="409522444"/>
                        </a:ext>
                      </a:extLst>
                    </a:gridCol>
                    <a:gridCol w="2514600">
                      <a:extLst>
                        <a:ext uri="{9D8B030D-6E8A-4147-A177-3AD203B41FA5}">
                          <a16:colId xmlns:a16="http://schemas.microsoft.com/office/drawing/2014/main" val="600776357"/>
                        </a:ext>
                      </a:extLst>
                    </a:gridCol>
                    <a:gridCol w="2514600">
                      <a:extLst>
                        <a:ext uri="{9D8B030D-6E8A-4147-A177-3AD203B41FA5}">
                          <a16:colId xmlns:a16="http://schemas.microsoft.com/office/drawing/2014/main" val="3765910094"/>
                        </a:ext>
                      </a:extLst>
                    </a:gridCol>
                    <a:gridCol w="2514600">
                      <a:extLst>
                        <a:ext uri="{9D8B030D-6E8A-4147-A177-3AD203B41FA5}">
                          <a16:colId xmlns:a16="http://schemas.microsoft.com/office/drawing/2014/main" val="917774380"/>
                        </a:ext>
                      </a:extLst>
                    </a:gridCol>
                    <a:gridCol w="2514600">
                      <a:extLst>
                        <a:ext uri="{9D8B030D-6E8A-4147-A177-3AD203B41FA5}">
                          <a16:colId xmlns:a16="http://schemas.microsoft.com/office/drawing/2014/main" val="479979925"/>
                        </a:ext>
                      </a:extLst>
                    </a:gridCol>
                  </a:tblGrid>
                  <a:tr h="1325933">
                    <a:tc>
                      <a:txBody>
                        <a:bodyPr/>
                        <a:lstStyle/>
                        <a:p>
                          <a:pPr rtl="0">
                            <a:buNone/>
                          </a:pPr>
                          <a:r>
                            <a:rPr lang="en-US" b="1" dirty="0">
                              <a:solidFill>
                                <a:schemeClr val="bg1"/>
                              </a:solidFill>
                              <a:effectLst/>
                              <a:latin typeface="Canva Sans" panose="020B0604020202020204" charset="0"/>
                            </a:rPr>
                            <a:t>Source</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dirty="0" err="1">
                              <a:solidFill>
                                <a:schemeClr val="bg1"/>
                              </a:solidFill>
                              <a:effectLst/>
                              <a:latin typeface="Canva Sans" panose="020B0604020202020204" charset="0"/>
                            </a:rPr>
                            <a:t>Df</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dirty="0">
                              <a:solidFill>
                                <a:schemeClr val="bg1"/>
                              </a:solidFill>
                              <a:effectLst/>
                              <a:latin typeface="Canva Sans" panose="020B0604020202020204" charset="0"/>
                            </a:rPr>
                            <a:t>Sum Sq</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dirty="0">
                              <a:solidFill>
                                <a:schemeClr val="bg1"/>
                              </a:solidFill>
                              <a:effectLst/>
                              <a:latin typeface="Canva Sans" panose="020B0604020202020204" charset="0"/>
                            </a:rPr>
                            <a:t>Mean Sq</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dirty="0">
                              <a:solidFill>
                                <a:schemeClr val="bg1"/>
                              </a:solidFill>
                              <a:effectLst/>
                              <a:latin typeface="Canva Sans" panose="020B0604020202020204" charset="0"/>
                            </a:rPr>
                            <a:t>F value</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dirty="0">
                              <a:solidFill>
                                <a:schemeClr val="bg1"/>
                              </a:solidFill>
                              <a:effectLst/>
                              <a:latin typeface="Canva Sans" panose="020B0604020202020204" charset="0"/>
                            </a:rPr>
                            <a:t>P-value</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00673418"/>
                      </a:ext>
                    </a:extLst>
                  </a:tr>
                  <a:tr h="1325933">
                    <a:tc>
                      <a:txBody>
                        <a:bodyPr/>
                        <a:lstStyle/>
                        <a:p>
                          <a:pPr rtl="0">
                            <a:buNone/>
                          </a:pPr>
                          <a:r>
                            <a:rPr lang="en-US" b="1" dirty="0">
                              <a:solidFill>
                                <a:schemeClr val="bg1"/>
                              </a:solidFill>
                              <a:effectLst/>
                              <a:latin typeface="Canva Sans" panose="020B0604020202020204" charset="0"/>
                            </a:rPr>
                            <a:t>Winner</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chemeClr val="bg1"/>
                              </a:solidFill>
                              <a:effectLst/>
                              <a:latin typeface="Canva Sans" panose="020B0604020202020204" charset="0"/>
                            </a:rPr>
                            <a:t>2</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chemeClr val="bg1"/>
                              </a:solidFill>
                              <a:effectLst/>
                              <a:latin typeface="Canva Sans" panose="020B0604020202020204" charset="0"/>
                            </a:rPr>
                            <a:t>37,850,839</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chemeClr val="bg1"/>
                              </a:solidFill>
                              <a:effectLst/>
                              <a:latin typeface="Canva Sans" panose="020B0604020202020204" charset="0"/>
                            </a:rPr>
                            <a:t>18,925,419</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chemeClr val="bg1"/>
                              </a:solidFill>
                              <a:effectLst/>
                              <a:latin typeface="Canva Sans" panose="020B0604020202020204" charset="0"/>
                            </a:rPr>
                            <a:t>228.16</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dirty="0">
                              <a:solidFill>
                                <a:schemeClr val="bg1"/>
                              </a:solidFill>
                              <a:effectLst/>
                              <a:latin typeface="Canva Sans" panose="020B0604020202020204" charset="0"/>
                            </a:rPr>
                            <a:t>&lt; </a:t>
                          </a:r>
                          <a14:m>
                            <m:oMath xmlns:m="http://schemas.openxmlformats.org/officeDocument/2006/math">
                              <m:sSup>
                                <m:sSupPr>
                                  <m:ctrlPr>
                                    <a:rPr lang="pt-BR" sz="1800" b="1" i="1" smtClean="0">
                                      <a:solidFill>
                                        <a:schemeClr val="bg1"/>
                                      </a:solidFill>
                                      <a:effectLst/>
                                      <a:latin typeface="Cambria Math" panose="02040503050406030204" pitchFamily="18" charset="0"/>
                                    </a:rPr>
                                  </m:ctrlPr>
                                </m:sSupPr>
                                <m:e>
                                  <m:r>
                                    <a:rPr lang="en-US" sz="1800" b="1" i="1" smtClean="0">
                                      <a:solidFill>
                                        <a:schemeClr val="bg1"/>
                                      </a:solidFill>
                                      <a:effectLst/>
                                      <a:latin typeface="Cambria Math" panose="02040503050406030204" pitchFamily="18" charset="0"/>
                                    </a:rPr>
                                    <m:t>𝟐</m:t>
                                  </m:r>
                                  <m:r>
                                    <a:rPr lang="en-US" sz="1800" b="1" i="1" smtClean="0">
                                      <a:solidFill>
                                        <a:schemeClr val="bg1"/>
                                      </a:solidFill>
                                      <a:effectLst/>
                                      <a:latin typeface="Cambria Math" panose="02040503050406030204" pitchFamily="18" charset="0"/>
                                    </a:rPr>
                                    <m:t>𝒆</m:t>
                                  </m:r>
                                </m:e>
                                <m:sup>
                                  <m:r>
                                    <a:rPr lang="en-US" sz="1800" b="1" i="1" smtClean="0">
                                      <a:solidFill>
                                        <a:schemeClr val="bg1"/>
                                      </a:solidFill>
                                      <a:effectLst/>
                                      <a:latin typeface="Cambria Math" panose="02040503050406030204" pitchFamily="18" charset="0"/>
                                    </a:rPr>
                                    <m:t>−</m:t>
                                  </m:r>
                                  <m:r>
                                    <a:rPr lang="en-US" sz="1800" b="1" i="1" smtClean="0">
                                      <a:solidFill>
                                        <a:schemeClr val="bg1"/>
                                      </a:solidFill>
                                      <a:effectLst/>
                                      <a:latin typeface="Cambria Math" panose="02040503050406030204" pitchFamily="18" charset="0"/>
                                    </a:rPr>
                                    <m:t>𝟏𝟔</m:t>
                                  </m:r>
                                </m:sup>
                              </m:sSup>
                            </m:oMath>
                          </a14:m>
                          <a:endParaRPr lang="en-US" sz="1800"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11441907"/>
                      </a:ext>
                    </a:extLst>
                  </a:tr>
                  <a:tr h="1325933">
                    <a:tc>
                      <a:txBody>
                        <a:bodyPr/>
                        <a:lstStyle/>
                        <a:p>
                          <a:pPr rtl="0">
                            <a:buNone/>
                          </a:pPr>
                          <a:r>
                            <a:rPr lang="en-US" b="1" dirty="0">
                              <a:solidFill>
                                <a:schemeClr val="bg1"/>
                              </a:solidFill>
                              <a:effectLst/>
                              <a:latin typeface="Canva Sans" panose="020B0604020202020204" charset="0"/>
                            </a:rPr>
                            <a:t>Residuals</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chemeClr val="bg1"/>
                              </a:solidFill>
                              <a:effectLst/>
                              <a:latin typeface="Canva Sans" panose="020B0604020202020204" charset="0"/>
                            </a:rPr>
                            <a:t>20055</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chemeClr val="bg1"/>
                              </a:solidFill>
                              <a:effectLst/>
                              <a:latin typeface="Canva Sans" panose="020B0604020202020204" charset="0"/>
                            </a:rPr>
                            <a:t>1,663,554,965</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chemeClr val="bg1"/>
                              </a:solidFill>
                              <a:effectLst/>
                              <a:latin typeface="Canva Sans" panose="020B0604020202020204" charset="0"/>
                            </a:rPr>
                            <a:t>82,950</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48837341"/>
                      </a:ext>
                    </a:extLst>
                  </a:tr>
                </a:tbl>
              </a:graphicData>
            </a:graphic>
          </p:graphicFrame>
        </mc:Choice>
        <mc:Fallback>
          <p:graphicFrame>
            <p:nvGraphicFramePr>
              <p:cNvPr id="15" name="Table 14">
                <a:extLst>
                  <a:ext uri="{FF2B5EF4-FFF2-40B4-BE49-F238E27FC236}">
                    <a16:creationId xmlns:a16="http://schemas.microsoft.com/office/drawing/2014/main" id="{1ABDA2D6-03F9-AF9C-79E5-4C33253B1353}"/>
                  </a:ext>
                </a:extLst>
              </p:cNvPr>
              <p:cNvGraphicFramePr>
                <a:graphicFrameLocks noGrp="1"/>
              </p:cNvGraphicFramePr>
              <p:nvPr/>
            </p:nvGraphicFramePr>
            <p:xfrm>
              <a:off x="457200" y="2994500"/>
              <a:ext cx="15087600" cy="3977799"/>
            </p:xfrm>
            <a:graphic>
              <a:graphicData uri="http://schemas.openxmlformats.org/drawingml/2006/table">
                <a:tbl>
                  <a:tblPr/>
                  <a:tblGrid>
                    <a:gridCol w="2514600">
                      <a:extLst>
                        <a:ext uri="{9D8B030D-6E8A-4147-A177-3AD203B41FA5}">
                          <a16:colId xmlns:a16="http://schemas.microsoft.com/office/drawing/2014/main" val="3870554578"/>
                        </a:ext>
                      </a:extLst>
                    </a:gridCol>
                    <a:gridCol w="2514600">
                      <a:extLst>
                        <a:ext uri="{9D8B030D-6E8A-4147-A177-3AD203B41FA5}">
                          <a16:colId xmlns:a16="http://schemas.microsoft.com/office/drawing/2014/main" val="409522444"/>
                        </a:ext>
                      </a:extLst>
                    </a:gridCol>
                    <a:gridCol w="2514600">
                      <a:extLst>
                        <a:ext uri="{9D8B030D-6E8A-4147-A177-3AD203B41FA5}">
                          <a16:colId xmlns:a16="http://schemas.microsoft.com/office/drawing/2014/main" val="600776357"/>
                        </a:ext>
                      </a:extLst>
                    </a:gridCol>
                    <a:gridCol w="2514600">
                      <a:extLst>
                        <a:ext uri="{9D8B030D-6E8A-4147-A177-3AD203B41FA5}">
                          <a16:colId xmlns:a16="http://schemas.microsoft.com/office/drawing/2014/main" val="3765910094"/>
                        </a:ext>
                      </a:extLst>
                    </a:gridCol>
                    <a:gridCol w="2514600">
                      <a:extLst>
                        <a:ext uri="{9D8B030D-6E8A-4147-A177-3AD203B41FA5}">
                          <a16:colId xmlns:a16="http://schemas.microsoft.com/office/drawing/2014/main" val="917774380"/>
                        </a:ext>
                      </a:extLst>
                    </a:gridCol>
                    <a:gridCol w="2514600">
                      <a:extLst>
                        <a:ext uri="{9D8B030D-6E8A-4147-A177-3AD203B41FA5}">
                          <a16:colId xmlns:a16="http://schemas.microsoft.com/office/drawing/2014/main" val="479979925"/>
                        </a:ext>
                      </a:extLst>
                    </a:gridCol>
                  </a:tblGrid>
                  <a:tr h="1325933">
                    <a:tc>
                      <a:txBody>
                        <a:bodyPr/>
                        <a:lstStyle/>
                        <a:p>
                          <a:pPr rtl="0">
                            <a:buNone/>
                          </a:pPr>
                          <a:r>
                            <a:rPr lang="en-US" b="1" dirty="0">
                              <a:solidFill>
                                <a:schemeClr val="bg1"/>
                              </a:solidFill>
                              <a:effectLst/>
                              <a:latin typeface="Canva Sans" panose="020B0604020202020204" charset="0"/>
                            </a:rPr>
                            <a:t>Source</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dirty="0" err="1">
                              <a:solidFill>
                                <a:schemeClr val="bg1"/>
                              </a:solidFill>
                              <a:effectLst/>
                              <a:latin typeface="Canva Sans" panose="020B0604020202020204" charset="0"/>
                            </a:rPr>
                            <a:t>Df</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dirty="0">
                              <a:solidFill>
                                <a:schemeClr val="bg1"/>
                              </a:solidFill>
                              <a:effectLst/>
                              <a:latin typeface="Canva Sans" panose="020B0604020202020204" charset="0"/>
                            </a:rPr>
                            <a:t>Sum Sq</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dirty="0">
                              <a:solidFill>
                                <a:schemeClr val="bg1"/>
                              </a:solidFill>
                              <a:effectLst/>
                              <a:latin typeface="Canva Sans" panose="020B0604020202020204" charset="0"/>
                            </a:rPr>
                            <a:t>Mean Sq</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dirty="0">
                              <a:solidFill>
                                <a:schemeClr val="bg1"/>
                              </a:solidFill>
                              <a:effectLst/>
                              <a:latin typeface="Canva Sans" panose="020B0604020202020204" charset="0"/>
                            </a:rPr>
                            <a:t>F value</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dirty="0">
                              <a:solidFill>
                                <a:schemeClr val="bg1"/>
                              </a:solidFill>
                              <a:effectLst/>
                              <a:latin typeface="Canva Sans" panose="020B0604020202020204" charset="0"/>
                            </a:rPr>
                            <a:t>P-value</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00673418"/>
                      </a:ext>
                    </a:extLst>
                  </a:tr>
                  <a:tr h="1325933">
                    <a:tc>
                      <a:txBody>
                        <a:bodyPr/>
                        <a:lstStyle/>
                        <a:p>
                          <a:pPr rtl="0">
                            <a:buNone/>
                          </a:pPr>
                          <a:r>
                            <a:rPr lang="en-US" b="1" dirty="0">
                              <a:solidFill>
                                <a:schemeClr val="bg1"/>
                              </a:solidFill>
                              <a:effectLst/>
                              <a:latin typeface="Canva Sans" panose="020B0604020202020204" charset="0"/>
                            </a:rPr>
                            <a:t>Winner</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chemeClr val="bg1"/>
                              </a:solidFill>
                              <a:effectLst/>
                              <a:latin typeface="Canva Sans" panose="020B0604020202020204" charset="0"/>
                            </a:rPr>
                            <a:t>2</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chemeClr val="bg1"/>
                              </a:solidFill>
                              <a:effectLst/>
                              <a:latin typeface="Canva Sans" panose="020B0604020202020204" charset="0"/>
                            </a:rPr>
                            <a:t>37,850,839</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chemeClr val="bg1"/>
                              </a:solidFill>
                              <a:effectLst/>
                              <a:latin typeface="Canva Sans" panose="020B0604020202020204" charset="0"/>
                            </a:rPr>
                            <a:t>18,925,419</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chemeClr val="bg1"/>
                              </a:solidFill>
                              <a:effectLst/>
                              <a:latin typeface="Canva Sans" panose="020B0604020202020204" charset="0"/>
                            </a:rPr>
                            <a:t>228.16</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endParaRPr lang="en-US"/>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blipFill>
                          <a:blip r:embed="rId7"/>
                          <a:stretch>
                            <a:fillRect l="-500971" t="-100922" r="-485" b="-100922"/>
                          </a:stretch>
                        </a:blipFill>
                      </a:tcPr>
                    </a:tc>
                    <a:extLst>
                      <a:ext uri="{0D108BD9-81ED-4DB2-BD59-A6C34878D82A}">
                        <a16:rowId xmlns:a16="http://schemas.microsoft.com/office/drawing/2014/main" val="1311441907"/>
                      </a:ext>
                    </a:extLst>
                  </a:tr>
                  <a:tr h="1325933">
                    <a:tc>
                      <a:txBody>
                        <a:bodyPr/>
                        <a:lstStyle/>
                        <a:p>
                          <a:pPr rtl="0">
                            <a:buNone/>
                          </a:pPr>
                          <a:r>
                            <a:rPr lang="en-US" b="1" dirty="0">
                              <a:solidFill>
                                <a:schemeClr val="bg1"/>
                              </a:solidFill>
                              <a:effectLst/>
                              <a:latin typeface="Canva Sans" panose="020B0604020202020204" charset="0"/>
                            </a:rPr>
                            <a:t>Residuals</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chemeClr val="bg1"/>
                              </a:solidFill>
                              <a:effectLst/>
                              <a:latin typeface="Canva Sans" panose="020B0604020202020204" charset="0"/>
                            </a:rPr>
                            <a:t>20055</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chemeClr val="bg1"/>
                              </a:solidFill>
                              <a:effectLst/>
                              <a:latin typeface="Canva Sans" panose="020B0604020202020204" charset="0"/>
                            </a:rPr>
                            <a:t>1,663,554,965</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chemeClr val="bg1"/>
                              </a:solidFill>
                              <a:effectLst/>
                              <a:latin typeface="Canva Sans" panose="020B0604020202020204" charset="0"/>
                            </a:rPr>
                            <a:t>82,950</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48837341"/>
                      </a:ext>
                    </a:extLst>
                  </a:tr>
                </a:tbl>
              </a:graphicData>
            </a:graphic>
          </p:graphicFrame>
        </mc:Fallback>
      </mc:AlternateContent>
    </p:spTree>
    <p:extLst>
      <p:ext uri="{BB962C8B-B14F-4D97-AF65-F5344CB8AC3E}">
        <p14:creationId xmlns:p14="http://schemas.microsoft.com/office/powerpoint/2010/main" val="1826028604"/>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8D9EE7F4-EDC1-21C3-E9F3-84108F7CEEB7}"/>
              </a:ext>
            </a:extLst>
          </p:cNvPr>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F5265916-824F-6FC8-2CFC-79BD1DC5A9D3}"/>
              </a:ext>
            </a:extLst>
          </p:cNvPr>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5">
              <a:extLst>
                <a:ext uri="{96DAC541-7B7A-43D3-8B79-37D633B846F1}">
                  <asvg:svgBlip xmlns:asvg="http://schemas.microsoft.com/office/drawing/2016/SVG/main" r:embed="rId6"/>
                </a:ext>
              </a:extLst>
            </a:blip>
            <a:stretch>
              <a:fillRect t="-419" b="-424"/>
            </a:stretch>
          </a:blipFill>
        </p:spPr>
        <p:txBody>
          <a:bodyPr/>
          <a:lstStyle/>
          <a:p>
            <a:endParaRPr lang="en-US"/>
          </a:p>
        </p:txBody>
      </p:sp>
      <p:sp>
        <p:nvSpPr>
          <p:cNvPr id="4" name="TextBox 4">
            <a:extLst>
              <a:ext uri="{FF2B5EF4-FFF2-40B4-BE49-F238E27FC236}">
                <a16:creationId xmlns:a16="http://schemas.microsoft.com/office/drawing/2014/main" id="{3F742456-9AA3-E8E5-52D3-0E7488384001}"/>
              </a:ext>
            </a:extLst>
          </p:cNvPr>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About</a:t>
            </a:r>
          </a:p>
        </p:txBody>
      </p:sp>
      <p:sp>
        <p:nvSpPr>
          <p:cNvPr id="5" name="TextBox 5">
            <a:extLst>
              <a:ext uri="{FF2B5EF4-FFF2-40B4-BE49-F238E27FC236}">
                <a16:creationId xmlns:a16="http://schemas.microsoft.com/office/drawing/2014/main" id="{10C35C36-E308-F152-88E6-C7E9A259457C}"/>
              </a:ext>
            </a:extLst>
          </p:cNvPr>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Project</a:t>
            </a:r>
          </a:p>
        </p:txBody>
      </p:sp>
      <p:sp>
        <p:nvSpPr>
          <p:cNvPr id="6" name="TextBox 6">
            <a:extLst>
              <a:ext uri="{FF2B5EF4-FFF2-40B4-BE49-F238E27FC236}">
                <a16:creationId xmlns:a16="http://schemas.microsoft.com/office/drawing/2014/main" id="{CB95EA0A-A324-09D4-85FA-95F52F70A4B2}"/>
              </a:ext>
            </a:extLst>
          </p:cNvPr>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grpSp>
        <p:nvGrpSpPr>
          <p:cNvPr id="7" name="Group 4">
            <a:extLst>
              <a:ext uri="{FF2B5EF4-FFF2-40B4-BE49-F238E27FC236}">
                <a16:creationId xmlns:a16="http://schemas.microsoft.com/office/drawing/2014/main" id="{2E08C1B1-3EE0-FF6C-9ABB-25DF45DD8891}"/>
              </a:ext>
            </a:extLst>
          </p:cNvPr>
          <p:cNvGrpSpPr/>
          <p:nvPr/>
        </p:nvGrpSpPr>
        <p:grpSpPr>
          <a:xfrm>
            <a:off x="0" y="1028700"/>
            <a:ext cx="6601092" cy="3846643"/>
            <a:chOff x="0" y="0"/>
            <a:chExt cx="8801456" cy="5128857"/>
          </a:xfrm>
        </p:grpSpPr>
        <p:sp>
          <p:nvSpPr>
            <p:cNvPr id="8" name="Freeform 5">
              <a:extLst>
                <a:ext uri="{FF2B5EF4-FFF2-40B4-BE49-F238E27FC236}">
                  <a16:creationId xmlns:a16="http://schemas.microsoft.com/office/drawing/2014/main" id="{094F1A10-20B5-41CE-927F-DF5E2D6C5989}"/>
                </a:ext>
              </a:extLst>
            </p:cNvPr>
            <p:cNvSpPr/>
            <p:nvPr/>
          </p:nvSpPr>
          <p:spPr>
            <a:xfrm>
              <a:off x="0" y="0"/>
              <a:ext cx="8801481" cy="5128895"/>
            </a:xfrm>
            <a:custGeom>
              <a:avLst/>
              <a:gdLst/>
              <a:ahLst/>
              <a:cxnLst/>
              <a:rect l="l" t="t" r="r" b="b"/>
              <a:pathLst>
                <a:path w="8801481" h="5128895">
                  <a:moveTo>
                    <a:pt x="0" y="0"/>
                  </a:moveTo>
                  <a:lnTo>
                    <a:pt x="8801481" y="0"/>
                  </a:lnTo>
                  <a:lnTo>
                    <a:pt x="8801481" y="5128895"/>
                  </a:lnTo>
                  <a:lnTo>
                    <a:pt x="0" y="5128895"/>
                  </a:lnTo>
                  <a:close/>
                </a:path>
              </a:pathLst>
            </a:custGeom>
            <a:blipFill>
              <a:blip r:embed="rId7"/>
              <a:stretch>
                <a:fillRect l="-1793" r="-1793"/>
              </a:stretch>
            </a:blipFill>
          </p:spPr>
          <p:txBody>
            <a:bodyPr/>
            <a:lstStyle/>
            <a:p>
              <a:endParaRPr lang="en-US"/>
            </a:p>
          </p:txBody>
        </p:sp>
      </p:grpSp>
      <p:grpSp>
        <p:nvGrpSpPr>
          <p:cNvPr id="9" name="Group 6">
            <a:extLst>
              <a:ext uri="{FF2B5EF4-FFF2-40B4-BE49-F238E27FC236}">
                <a16:creationId xmlns:a16="http://schemas.microsoft.com/office/drawing/2014/main" id="{7F5ECF8C-0273-3A7B-5D90-7D2FAA02D0F0}"/>
              </a:ext>
            </a:extLst>
          </p:cNvPr>
          <p:cNvGrpSpPr/>
          <p:nvPr/>
        </p:nvGrpSpPr>
        <p:grpSpPr>
          <a:xfrm>
            <a:off x="1700746" y="5411657"/>
            <a:ext cx="6601092" cy="3846643"/>
            <a:chOff x="0" y="0"/>
            <a:chExt cx="8801456" cy="5128857"/>
          </a:xfrm>
        </p:grpSpPr>
        <p:sp>
          <p:nvSpPr>
            <p:cNvPr id="10" name="Freeform 7">
              <a:extLst>
                <a:ext uri="{FF2B5EF4-FFF2-40B4-BE49-F238E27FC236}">
                  <a16:creationId xmlns:a16="http://schemas.microsoft.com/office/drawing/2014/main" id="{1980E049-5834-D943-74FC-3619B57BDB1A}"/>
                </a:ext>
              </a:extLst>
            </p:cNvPr>
            <p:cNvSpPr/>
            <p:nvPr/>
          </p:nvSpPr>
          <p:spPr>
            <a:xfrm>
              <a:off x="0" y="0"/>
              <a:ext cx="8801481" cy="5128895"/>
            </a:xfrm>
            <a:custGeom>
              <a:avLst/>
              <a:gdLst/>
              <a:ahLst/>
              <a:cxnLst/>
              <a:rect l="l" t="t" r="r" b="b"/>
              <a:pathLst>
                <a:path w="8801481" h="5128895">
                  <a:moveTo>
                    <a:pt x="0" y="0"/>
                  </a:moveTo>
                  <a:lnTo>
                    <a:pt x="8801481" y="0"/>
                  </a:lnTo>
                  <a:lnTo>
                    <a:pt x="8801481" y="5128895"/>
                  </a:lnTo>
                  <a:lnTo>
                    <a:pt x="0" y="5128895"/>
                  </a:lnTo>
                  <a:close/>
                </a:path>
              </a:pathLst>
            </a:custGeom>
            <a:blipFill>
              <a:blip r:embed="rId8"/>
              <a:stretch>
                <a:fillRect t="-7202" b="-7201"/>
              </a:stretch>
            </a:blipFill>
          </p:spPr>
          <p:txBody>
            <a:bodyPr/>
            <a:lstStyle/>
            <a:p>
              <a:endParaRPr lang="en-US"/>
            </a:p>
          </p:txBody>
        </p:sp>
      </p:grpSp>
      <p:sp>
        <p:nvSpPr>
          <p:cNvPr id="12" name="TextBox 11">
            <a:extLst>
              <a:ext uri="{FF2B5EF4-FFF2-40B4-BE49-F238E27FC236}">
                <a16:creationId xmlns:a16="http://schemas.microsoft.com/office/drawing/2014/main" id="{747595B4-AEB4-1CCF-6701-92A0AA3E9E8C}"/>
              </a:ext>
            </a:extLst>
          </p:cNvPr>
          <p:cNvSpPr txBox="1"/>
          <p:nvPr/>
        </p:nvSpPr>
        <p:spPr>
          <a:xfrm>
            <a:off x="9144000" y="3467100"/>
            <a:ext cx="9144000" cy="1041504"/>
          </a:xfrm>
          <a:prstGeom prst="rect">
            <a:avLst/>
          </a:prstGeom>
          <a:noFill/>
        </p:spPr>
        <p:txBody>
          <a:bodyPr wrap="square">
            <a:spAutoFit/>
          </a:bodyPr>
          <a:lstStyle/>
          <a:p>
            <a:pPr algn="l">
              <a:lnSpc>
                <a:spcPts val="7183"/>
              </a:lnSpc>
            </a:pPr>
            <a:r>
              <a:rPr lang="en-US" sz="7200" dirty="0">
                <a:solidFill>
                  <a:srgbClr val="FFFFFF"/>
                </a:solidFill>
                <a:latin typeface="Archivo Black"/>
                <a:ea typeface="Archivo Black"/>
                <a:cs typeface="Archivo Black"/>
                <a:sym typeface="Archivo Black"/>
              </a:rPr>
              <a:t>Interpretation:</a:t>
            </a:r>
          </a:p>
        </p:txBody>
      </p:sp>
      <p:sp>
        <p:nvSpPr>
          <p:cNvPr id="14" name="TextBox 13">
            <a:extLst>
              <a:ext uri="{FF2B5EF4-FFF2-40B4-BE49-F238E27FC236}">
                <a16:creationId xmlns:a16="http://schemas.microsoft.com/office/drawing/2014/main" id="{8C9EDDA5-6363-A267-2C38-98CE551B9545}"/>
              </a:ext>
            </a:extLst>
          </p:cNvPr>
          <p:cNvSpPr txBox="1"/>
          <p:nvPr/>
        </p:nvSpPr>
        <p:spPr>
          <a:xfrm>
            <a:off x="8839200" y="4991100"/>
            <a:ext cx="8763000" cy="2049664"/>
          </a:xfrm>
          <a:prstGeom prst="rect">
            <a:avLst/>
          </a:prstGeom>
          <a:noFill/>
        </p:spPr>
        <p:txBody>
          <a:bodyPr wrap="square" rtlCol="0">
            <a:spAutoFit/>
          </a:bodyPr>
          <a:lstStyle/>
          <a:p>
            <a:pPr>
              <a:lnSpc>
                <a:spcPts val="2207"/>
              </a:lnSpc>
            </a:pPr>
            <a:r>
              <a:rPr lang="en-US" sz="1600" dirty="0">
                <a:solidFill>
                  <a:schemeClr val="bg1"/>
                </a:solidFill>
                <a:latin typeface="Canva Sans" panose="020B0604020202020204" charset="0"/>
              </a:rPr>
              <a:t>The F-value is very high (228.16) and the P-value is effectively zero. We Reject the Null Hypothesis.</a:t>
            </a:r>
            <a:endParaRPr lang="en-US" sz="1599" dirty="0">
              <a:solidFill>
                <a:schemeClr val="bg1"/>
              </a:solidFill>
              <a:latin typeface="Canva Sans" panose="020B0604020202020204" charset="0"/>
              <a:ea typeface="Canva Sans"/>
              <a:cs typeface="Canva Sans"/>
              <a:sym typeface="Canva Sans"/>
            </a:endParaRPr>
          </a:p>
          <a:p>
            <a:pPr>
              <a:lnSpc>
                <a:spcPts val="2207"/>
              </a:lnSpc>
            </a:pPr>
            <a:endParaRPr lang="en-US" sz="1599" dirty="0">
              <a:solidFill>
                <a:schemeClr val="bg1"/>
              </a:solidFill>
              <a:latin typeface="Canva Sans" panose="020B0604020202020204" charset="0"/>
              <a:ea typeface="Canva Sans"/>
              <a:cs typeface="Canva Sans"/>
              <a:sym typeface="Canva Sans"/>
            </a:endParaRPr>
          </a:p>
          <a:p>
            <a:pPr>
              <a:lnSpc>
                <a:spcPts val="2207"/>
              </a:lnSpc>
            </a:pPr>
            <a:endParaRPr lang="en-US" sz="1599" dirty="0">
              <a:solidFill>
                <a:srgbClr val="FFFFFF"/>
              </a:solidFill>
              <a:latin typeface="Canva Sans"/>
              <a:ea typeface="Canva Sans"/>
              <a:cs typeface="Canva Sans"/>
              <a:sym typeface="Canva Sans"/>
            </a:endParaRPr>
          </a:p>
          <a:p>
            <a:pPr>
              <a:lnSpc>
                <a:spcPts val="2207"/>
              </a:lnSpc>
            </a:pPr>
            <a:r>
              <a:rPr lang="en-US" sz="1599" dirty="0">
                <a:solidFill>
                  <a:srgbClr val="FFFFFF"/>
                </a:solidFill>
                <a:latin typeface="Canva Sans"/>
                <a:ea typeface="Canva Sans"/>
                <a:cs typeface="Canva Sans"/>
                <a:sym typeface="Canva Sans"/>
              </a:rPr>
              <a:t>Conclusion: There is a statistically significant relationship between a player's rating and the game result. Stronger players are significantly more likely to win, which validates the skill element of chess.</a:t>
            </a:r>
          </a:p>
        </p:txBody>
      </p:sp>
    </p:spTree>
    <p:extLst>
      <p:ext uri="{BB962C8B-B14F-4D97-AF65-F5344CB8AC3E}">
        <p14:creationId xmlns:p14="http://schemas.microsoft.com/office/powerpoint/2010/main" val="447635732"/>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BDAA7EE3-9B56-E4E5-4103-4A9FB757842D}"/>
              </a:ext>
            </a:extLst>
          </p:cNvPr>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A451228C-FEAC-D1BB-E6A7-CB2B6461C76E}"/>
              </a:ext>
            </a:extLst>
          </p:cNvPr>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5">
              <a:extLst>
                <a:ext uri="{96DAC541-7B7A-43D3-8B79-37D633B846F1}">
                  <asvg:svgBlip xmlns:asvg="http://schemas.microsoft.com/office/drawing/2016/SVG/main" r:embed="rId6"/>
                </a:ext>
              </a:extLst>
            </a:blip>
            <a:stretch>
              <a:fillRect t="-419" b="-424"/>
            </a:stretch>
          </a:blipFill>
        </p:spPr>
        <p:txBody>
          <a:bodyPr/>
          <a:lstStyle/>
          <a:p>
            <a:endParaRPr lang="en-US"/>
          </a:p>
        </p:txBody>
      </p:sp>
      <p:sp>
        <p:nvSpPr>
          <p:cNvPr id="4" name="TextBox 4">
            <a:extLst>
              <a:ext uri="{FF2B5EF4-FFF2-40B4-BE49-F238E27FC236}">
                <a16:creationId xmlns:a16="http://schemas.microsoft.com/office/drawing/2014/main" id="{E7E9CB23-5B0A-B20A-7164-FAC2E434389C}"/>
              </a:ext>
            </a:extLst>
          </p:cNvPr>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About</a:t>
            </a:r>
          </a:p>
        </p:txBody>
      </p:sp>
      <p:sp>
        <p:nvSpPr>
          <p:cNvPr id="5" name="TextBox 5">
            <a:extLst>
              <a:ext uri="{FF2B5EF4-FFF2-40B4-BE49-F238E27FC236}">
                <a16:creationId xmlns:a16="http://schemas.microsoft.com/office/drawing/2014/main" id="{A22B1D9C-BBF6-90DC-B460-1F9D8C3AE83E}"/>
              </a:ext>
            </a:extLst>
          </p:cNvPr>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Project</a:t>
            </a:r>
          </a:p>
        </p:txBody>
      </p:sp>
      <p:sp>
        <p:nvSpPr>
          <p:cNvPr id="6" name="TextBox 6">
            <a:extLst>
              <a:ext uri="{FF2B5EF4-FFF2-40B4-BE49-F238E27FC236}">
                <a16:creationId xmlns:a16="http://schemas.microsoft.com/office/drawing/2014/main" id="{EF41C224-379F-6057-176B-F92F847BD9E7}"/>
              </a:ext>
            </a:extLst>
          </p:cNvPr>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Service</a:t>
            </a:r>
          </a:p>
        </p:txBody>
      </p:sp>
      <p:sp>
        <p:nvSpPr>
          <p:cNvPr id="14" name="TextBox 13">
            <a:extLst>
              <a:ext uri="{FF2B5EF4-FFF2-40B4-BE49-F238E27FC236}">
                <a16:creationId xmlns:a16="http://schemas.microsoft.com/office/drawing/2014/main" id="{952D9723-FF24-2A78-2239-F305DA64AA72}"/>
              </a:ext>
            </a:extLst>
          </p:cNvPr>
          <p:cNvSpPr txBox="1"/>
          <p:nvPr/>
        </p:nvSpPr>
        <p:spPr>
          <a:xfrm>
            <a:off x="0" y="1333500"/>
            <a:ext cx="18288000" cy="980846"/>
          </a:xfrm>
          <a:prstGeom prst="rect">
            <a:avLst/>
          </a:prstGeom>
          <a:noFill/>
        </p:spPr>
        <p:txBody>
          <a:bodyPr wrap="square">
            <a:spAutoFit/>
          </a:bodyPr>
          <a:lstStyle/>
          <a:p>
            <a:pPr algn="ctr">
              <a:lnSpc>
                <a:spcPts val="7183"/>
              </a:lnSpc>
            </a:pPr>
            <a:r>
              <a:rPr lang="en-US" sz="5600" b="1" dirty="0">
                <a:solidFill>
                  <a:srgbClr val="FFFFFF"/>
                </a:solidFill>
                <a:latin typeface="Archivo Black"/>
                <a:ea typeface="Archivo Black"/>
                <a:cs typeface="Archivo Black"/>
                <a:sym typeface="Archivo Black"/>
              </a:rPr>
              <a:t>Correlation Matrix: Summary of Relationships</a:t>
            </a:r>
            <a:endParaRPr lang="en-US" sz="5600" dirty="0">
              <a:solidFill>
                <a:srgbClr val="FFFFFF"/>
              </a:solidFill>
              <a:latin typeface="Archivo Black" panose="020B0604020202020204" charset="0"/>
              <a:ea typeface="Archivo Black"/>
              <a:cs typeface="Archivo Black"/>
              <a:sym typeface="Archivo Black"/>
            </a:endParaRPr>
          </a:p>
        </p:txBody>
      </p:sp>
      <p:graphicFrame>
        <p:nvGraphicFramePr>
          <p:cNvPr id="16" name="Table 15">
            <a:extLst>
              <a:ext uri="{FF2B5EF4-FFF2-40B4-BE49-F238E27FC236}">
                <a16:creationId xmlns:a16="http://schemas.microsoft.com/office/drawing/2014/main" id="{30D7F662-3A22-2674-5831-82818AFEDF61}"/>
              </a:ext>
            </a:extLst>
          </p:cNvPr>
          <p:cNvGraphicFramePr>
            <a:graphicFrameLocks noGrp="1"/>
          </p:cNvGraphicFramePr>
          <p:nvPr>
            <p:extLst>
              <p:ext uri="{D42A27DB-BD31-4B8C-83A1-F6EECF244321}">
                <p14:modId xmlns:p14="http://schemas.microsoft.com/office/powerpoint/2010/main" val="2409518801"/>
              </p:ext>
            </p:extLst>
          </p:nvPr>
        </p:nvGraphicFramePr>
        <p:xfrm>
          <a:off x="685800" y="2476500"/>
          <a:ext cx="8229600" cy="1828800"/>
        </p:xfrm>
        <a:graphic>
          <a:graphicData uri="http://schemas.openxmlformats.org/drawingml/2006/table">
            <a:tbl>
              <a:tblPr/>
              <a:tblGrid>
                <a:gridCol w="2057400">
                  <a:extLst>
                    <a:ext uri="{9D8B030D-6E8A-4147-A177-3AD203B41FA5}">
                      <a16:colId xmlns:a16="http://schemas.microsoft.com/office/drawing/2014/main" val="66622384"/>
                    </a:ext>
                  </a:extLst>
                </a:gridCol>
                <a:gridCol w="2057400">
                  <a:extLst>
                    <a:ext uri="{9D8B030D-6E8A-4147-A177-3AD203B41FA5}">
                      <a16:colId xmlns:a16="http://schemas.microsoft.com/office/drawing/2014/main" val="1651335561"/>
                    </a:ext>
                  </a:extLst>
                </a:gridCol>
                <a:gridCol w="2057400">
                  <a:extLst>
                    <a:ext uri="{9D8B030D-6E8A-4147-A177-3AD203B41FA5}">
                      <a16:colId xmlns:a16="http://schemas.microsoft.com/office/drawing/2014/main" val="112775349"/>
                    </a:ext>
                  </a:extLst>
                </a:gridCol>
                <a:gridCol w="2057400">
                  <a:extLst>
                    <a:ext uri="{9D8B030D-6E8A-4147-A177-3AD203B41FA5}">
                      <a16:colId xmlns:a16="http://schemas.microsoft.com/office/drawing/2014/main" val="2961703520"/>
                    </a:ext>
                  </a:extLst>
                </a:gridCol>
              </a:tblGrid>
              <a:tr h="457200">
                <a:tc>
                  <a:txBody>
                    <a:bodyPr/>
                    <a:lstStyle/>
                    <a:p>
                      <a:pPr rtl="0">
                        <a:buNone/>
                      </a:pPr>
                      <a:r>
                        <a:rPr lang="en-US" b="1" dirty="0">
                          <a:solidFill>
                            <a:schemeClr val="bg1"/>
                          </a:solidFill>
                          <a:effectLst/>
                          <a:latin typeface="Canva Sans" panose="020B0604020202020204" charset="0"/>
                        </a:rPr>
                        <a:t>Variable</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chemeClr val="bg1"/>
                          </a:solidFill>
                          <a:effectLst/>
                          <a:latin typeface="Canva Sans" panose="020B0604020202020204" charset="0"/>
                        </a:rPr>
                        <a:t>White Rating</a:t>
                      </a:r>
                      <a:endParaRPr lang="en-US">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chemeClr val="bg1"/>
                          </a:solidFill>
                          <a:effectLst/>
                          <a:latin typeface="Canva Sans" panose="020B0604020202020204" charset="0"/>
                        </a:rPr>
                        <a:t>Black Rating</a:t>
                      </a:r>
                      <a:endParaRPr lang="en-US">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chemeClr val="bg1"/>
                          </a:solidFill>
                          <a:effectLst/>
                          <a:latin typeface="Canva Sans" panose="020B0604020202020204" charset="0"/>
                        </a:rPr>
                        <a:t>Turns</a:t>
                      </a:r>
                      <a:endParaRPr lang="en-US">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80736187"/>
                  </a:ext>
                </a:extLst>
              </a:tr>
              <a:tr h="457200">
                <a:tc>
                  <a:txBody>
                    <a:bodyPr/>
                    <a:lstStyle/>
                    <a:p>
                      <a:pPr rtl="0">
                        <a:buNone/>
                      </a:pPr>
                      <a:r>
                        <a:rPr lang="en-US" b="1" dirty="0">
                          <a:solidFill>
                            <a:schemeClr val="bg1"/>
                          </a:solidFill>
                          <a:effectLst/>
                          <a:latin typeface="Canva Sans" panose="020B0604020202020204" charset="0"/>
                        </a:rPr>
                        <a:t>White Rating</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dirty="0">
                          <a:solidFill>
                            <a:schemeClr val="bg1"/>
                          </a:solidFill>
                          <a:effectLst/>
                          <a:latin typeface="Canva Sans" panose="020B0604020202020204" charset="0"/>
                        </a:rPr>
                        <a:t>1.00</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chemeClr val="bg1"/>
                          </a:solidFill>
                          <a:effectLst/>
                          <a:latin typeface="Canva Sans" panose="020B0604020202020204" charset="0"/>
                        </a:rPr>
                        <a:t>0.63</a:t>
                      </a:r>
                      <a:endParaRPr lang="en-US">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chemeClr val="bg1"/>
                          </a:solidFill>
                          <a:effectLst/>
                          <a:latin typeface="Canva Sans" panose="020B0604020202020204" charset="0"/>
                        </a:rPr>
                        <a:t>0.16</a:t>
                      </a:r>
                      <a:endParaRPr lang="en-US">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46775779"/>
                  </a:ext>
                </a:extLst>
              </a:tr>
              <a:tr h="457200">
                <a:tc>
                  <a:txBody>
                    <a:bodyPr/>
                    <a:lstStyle/>
                    <a:p>
                      <a:pPr rtl="0">
                        <a:buNone/>
                      </a:pPr>
                      <a:r>
                        <a:rPr lang="en-US" b="1">
                          <a:solidFill>
                            <a:schemeClr val="bg1"/>
                          </a:solidFill>
                          <a:effectLst/>
                          <a:latin typeface="Canva Sans" panose="020B0604020202020204" charset="0"/>
                        </a:rPr>
                        <a:t>Black Rating</a:t>
                      </a:r>
                      <a:endParaRPr lang="en-US">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chemeClr val="bg1"/>
                          </a:solidFill>
                          <a:effectLst/>
                          <a:latin typeface="Canva Sans" panose="020B0604020202020204" charset="0"/>
                        </a:rPr>
                        <a:t>0.63</a:t>
                      </a:r>
                      <a:endParaRPr lang="en-US">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chemeClr val="bg1"/>
                          </a:solidFill>
                          <a:effectLst/>
                          <a:latin typeface="Canva Sans" panose="020B0604020202020204" charset="0"/>
                        </a:rPr>
                        <a:t>1.00</a:t>
                      </a:r>
                      <a:endParaRPr lang="en-US">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chemeClr val="bg1"/>
                          </a:solidFill>
                          <a:effectLst/>
                          <a:latin typeface="Canva Sans" panose="020B0604020202020204" charset="0"/>
                        </a:rPr>
                        <a:t>0.16</a:t>
                      </a:r>
                      <a:endParaRPr lang="en-US">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47502668"/>
                  </a:ext>
                </a:extLst>
              </a:tr>
              <a:tr h="457200">
                <a:tc>
                  <a:txBody>
                    <a:bodyPr/>
                    <a:lstStyle/>
                    <a:p>
                      <a:pPr rtl="0">
                        <a:buNone/>
                      </a:pPr>
                      <a:r>
                        <a:rPr lang="en-US" b="1" dirty="0">
                          <a:solidFill>
                            <a:schemeClr val="bg1"/>
                          </a:solidFill>
                          <a:effectLst/>
                          <a:latin typeface="Canva Sans" panose="020B0604020202020204" charset="0"/>
                        </a:rPr>
                        <a:t>Turns</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chemeClr val="bg1"/>
                          </a:solidFill>
                          <a:effectLst/>
                          <a:latin typeface="Canva Sans" panose="020B0604020202020204" charset="0"/>
                        </a:rPr>
                        <a:t>0.16</a:t>
                      </a:r>
                      <a:endParaRPr lang="en-US">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chemeClr val="bg1"/>
                          </a:solidFill>
                          <a:effectLst/>
                          <a:latin typeface="Canva Sans" panose="020B0604020202020204" charset="0"/>
                        </a:rPr>
                        <a:t>0.16</a:t>
                      </a:r>
                      <a:endParaRPr lang="en-US">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dirty="0">
                          <a:solidFill>
                            <a:schemeClr val="bg1"/>
                          </a:solidFill>
                          <a:effectLst/>
                          <a:latin typeface="Canva Sans" panose="020B0604020202020204" charset="0"/>
                        </a:rPr>
                        <a:t>1.00</a:t>
                      </a:r>
                      <a:endParaRPr lang="en-US" dirty="0">
                        <a:solidFill>
                          <a:schemeClr val="bg1"/>
                        </a:solidFill>
                        <a:effectLst/>
                        <a:latin typeface="Canva Sans" panose="020B060402020202020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91629569"/>
                  </a:ext>
                </a:extLst>
              </a:tr>
            </a:tbl>
          </a:graphicData>
        </a:graphic>
      </p:graphicFrame>
      <p:grpSp>
        <p:nvGrpSpPr>
          <p:cNvPr id="17" name="Group 4">
            <a:extLst>
              <a:ext uri="{FF2B5EF4-FFF2-40B4-BE49-F238E27FC236}">
                <a16:creationId xmlns:a16="http://schemas.microsoft.com/office/drawing/2014/main" id="{31385AE7-BC3A-D7CA-8FB5-689EF1925EA1}"/>
              </a:ext>
            </a:extLst>
          </p:cNvPr>
          <p:cNvGrpSpPr/>
          <p:nvPr/>
        </p:nvGrpSpPr>
        <p:grpSpPr>
          <a:xfrm>
            <a:off x="11277600" y="2314346"/>
            <a:ext cx="6601092" cy="3846643"/>
            <a:chOff x="0" y="0"/>
            <a:chExt cx="8801456" cy="5128857"/>
          </a:xfrm>
        </p:grpSpPr>
        <p:sp>
          <p:nvSpPr>
            <p:cNvPr id="18" name="Freeform 5">
              <a:extLst>
                <a:ext uri="{FF2B5EF4-FFF2-40B4-BE49-F238E27FC236}">
                  <a16:creationId xmlns:a16="http://schemas.microsoft.com/office/drawing/2014/main" id="{ACC96E4D-3846-87EC-3810-515219957196}"/>
                </a:ext>
              </a:extLst>
            </p:cNvPr>
            <p:cNvSpPr/>
            <p:nvPr/>
          </p:nvSpPr>
          <p:spPr>
            <a:xfrm>
              <a:off x="0" y="0"/>
              <a:ext cx="8801481" cy="5128895"/>
            </a:xfrm>
            <a:custGeom>
              <a:avLst/>
              <a:gdLst/>
              <a:ahLst/>
              <a:cxnLst/>
              <a:rect l="l" t="t" r="r" b="b"/>
              <a:pathLst>
                <a:path w="8801481" h="5128895">
                  <a:moveTo>
                    <a:pt x="0" y="0"/>
                  </a:moveTo>
                  <a:lnTo>
                    <a:pt x="8801481" y="0"/>
                  </a:lnTo>
                  <a:lnTo>
                    <a:pt x="8801481" y="5128895"/>
                  </a:lnTo>
                  <a:lnTo>
                    <a:pt x="0" y="5128895"/>
                  </a:lnTo>
                  <a:close/>
                </a:path>
              </a:pathLst>
            </a:custGeom>
            <a:blipFill>
              <a:blip r:embed="rId7"/>
              <a:stretch>
                <a:fillRect l="-1793" r="-1793"/>
              </a:stretch>
            </a:blipFill>
          </p:spPr>
          <p:txBody>
            <a:bodyPr/>
            <a:lstStyle/>
            <a:p>
              <a:endParaRPr lang="en-US"/>
            </a:p>
          </p:txBody>
        </p:sp>
      </p:grpSp>
      <p:sp>
        <p:nvSpPr>
          <p:cNvPr id="19" name="TextBox 18">
            <a:extLst>
              <a:ext uri="{FF2B5EF4-FFF2-40B4-BE49-F238E27FC236}">
                <a16:creationId xmlns:a16="http://schemas.microsoft.com/office/drawing/2014/main" id="{ED42E42A-5A79-8503-FA2F-D66DB0D3EE71}"/>
              </a:ext>
            </a:extLst>
          </p:cNvPr>
          <p:cNvSpPr txBox="1"/>
          <p:nvPr/>
        </p:nvSpPr>
        <p:spPr>
          <a:xfrm>
            <a:off x="457200" y="4686300"/>
            <a:ext cx="8686800" cy="3373359"/>
          </a:xfrm>
          <a:prstGeom prst="rect">
            <a:avLst/>
          </a:prstGeom>
          <a:noFill/>
        </p:spPr>
        <p:txBody>
          <a:bodyPr wrap="square" rtlCol="0">
            <a:spAutoFit/>
          </a:bodyPr>
          <a:lstStyle/>
          <a:p>
            <a:pPr marL="342900" indent="-342900">
              <a:lnSpc>
                <a:spcPct val="150000"/>
              </a:lnSpc>
              <a:buFont typeface="+mj-lt"/>
              <a:buAutoNum type="arabicPeriod"/>
            </a:pPr>
            <a:r>
              <a:rPr lang="en-US" dirty="0">
                <a:solidFill>
                  <a:schemeClr val="bg1"/>
                </a:solidFill>
              </a:rPr>
              <a:t>White Rating vs. Black Rating (0.63):</a:t>
            </a:r>
          </a:p>
          <a:p>
            <a:pPr marL="742950" lvl="1" indent="-285750">
              <a:lnSpc>
                <a:spcPct val="150000"/>
              </a:lnSpc>
              <a:buFont typeface="Arial" panose="020B0604020202020204" pitchFamily="34" charset="0"/>
              <a:buChar char="•"/>
            </a:pPr>
            <a:r>
              <a:rPr lang="en-US" dirty="0">
                <a:solidFill>
                  <a:schemeClr val="bg1"/>
                </a:solidFill>
              </a:rPr>
              <a:t>Strong Positive Correlation.</a:t>
            </a:r>
          </a:p>
          <a:p>
            <a:pPr marL="742950" lvl="1" indent="-285750">
              <a:lnSpc>
                <a:spcPct val="150000"/>
              </a:lnSpc>
              <a:buFont typeface="Arial" panose="020B0604020202020204" pitchFamily="34" charset="0"/>
              <a:buChar char="•"/>
            </a:pPr>
            <a:r>
              <a:rPr lang="en-US" dirty="0">
                <a:solidFill>
                  <a:schemeClr val="bg1"/>
                </a:solidFill>
              </a:rPr>
              <a:t>As the White player's rating increases, the Black player's rating increases.</a:t>
            </a:r>
          </a:p>
          <a:p>
            <a:pPr marL="742950" lvl="1" indent="-285750">
              <a:lnSpc>
                <a:spcPct val="150000"/>
              </a:lnSpc>
              <a:buFont typeface="Arial" panose="020B0604020202020204" pitchFamily="34" charset="0"/>
              <a:buChar char="•"/>
            </a:pPr>
            <a:r>
              <a:rPr lang="en-US" dirty="0">
                <a:solidFill>
                  <a:schemeClr val="bg1"/>
                </a:solidFill>
              </a:rPr>
              <a:t>Conclusion: The matchmaking system effectively pairs players of similar skill.</a:t>
            </a:r>
          </a:p>
          <a:p>
            <a:pPr marL="342900" indent="-342900">
              <a:lnSpc>
                <a:spcPct val="150000"/>
              </a:lnSpc>
              <a:buFont typeface="+mj-lt"/>
              <a:buAutoNum type="arabicPeriod"/>
            </a:pPr>
            <a:r>
              <a:rPr lang="en-US" dirty="0">
                <a:solidFill>
                  <a:schemeClr val="bg1"/>
                </a:solidFill>
              </a:rPr>
              <a:t>Rating vs. Turns (0.16):</a:t>
            </a:r>
          </a:p>
          <a:p>
            <a:pPr marL="800100" lvl="1" indent="-342900">
              <a:lnSpc>
                <a:spcPct val="150000"/>
              </a:lnSpc>
              <a:buFont typeface="Arial" panose="020B0604020202020204" pitchFamily="34" charset="0"/>
              <a:buChar char="•"/>
            </a:pPr>
            <a:r>
              <a:rPr lang="en-US" dirty="0">
                <a:solidFill>
                  <a:schemeClr val="bg1"/>
                </a:solidFill>
              </a:rPr>
              <a:t>Weak Positive Correlation.</a:t>
            </a:r>
          </a:p>
          <a:p>
            <a:pPr marL="800100" lvl="1" indent="-342900">
              <a:lnSpc>
                <a:spcPct val="150000"/>
              </a:lnSpc>
              <a:buFont typeface="Arial" panose="020B0604020202020204" pitchFamily="34" charset="0"/>
              <a:buChar char="•"/>
            </a:pPr>
            <a:r>
              <a:rPr lang="en-US" dirty="0">
                <a:solidFill>
                  <a:schemeClr val="bg1"/>
                </a:solidFill>
              </a:rPr>
              <a:t>There is a very slight tendency for higher-rated players to play longer games.</a:t>
            </a:r>
          </a:p>
          <a:p>
            <a:pPr marL="800100" lvl="1" indent="-342900">
              <a:lnSpc>
                <a:spcPct val="150000"/>
              </a:lnSpc>
              <a:buFont typeface="Arial" panose="020B0604020202020204" pitchFamily="34" charset="0"/>
              <a:buChar char="•"/>
            </a:pPr>
            <a:r>
              <a:rPr lang="en-US" dirty="0">
                <a:solidFill>
                  <a:schemeClr val="bg1"/>
                </a:solidFill>
              </a:rPr>
              <a:t>Conclusion: Skill level is not a strong predictor of game length.</a:t>
            </a:r>
          </a:p>
        </p:txBody>
      </p:sp>
    </p:spTree>
    <p:extLst>
      <p:ext uri="{BB962C8B-B14F-4D97-AF65-F5344CB8AC3E}">
        <p14:creationId xmlns:p14="http://schemas.microsoft.com/office/powerpoint/2010/main" val="771851833"/>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9EB67965-8678-F7D3-E98C-0F61D448E954}"/>
              </a:ext>
            </a:extLst>
          </p:cNvPr>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1F751FE3-5982-C335-66A8-C7A3C930C4EC}"/>
              </a:ext>
            </a:extLst>
          </p:cNvPr>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5">
              <a:extLst>
                <a:ext uri="{96DAC541-7B7A-43D3-8B79-37D633B846F1}">
                  <asvg:svgBlip xmlns:asvg="http://schemas.microsoft.com/office/drawing/2016/SVG/main" r:embed="rId6"/>
                </a:ext>
              </a:extLst>
            </a:blip>
            <a:stretch>
              <a:fillRect t="-419" b="-424"/>
            </a:stretch>
          </a:blipFill>
        </p:spPr>
        <p:txBody>
          <a:bodyPr/>
          <a:lstStyle/>
          <a:p>
            <a:endParaRPr lang="en-US"/>
          </a:p>
        </p:txBody>
      </p:sp>
      <p:sp>
        <p:nvSpPr>
          <p:cNvPr id="4" name="TextBox 4">
            <a:extLst>
              <a:ext uri="{FF2B5EF4-FFF2-40B4-BE49-F238E27FC236}">
                <a16:creationId xmlns:a16="http://schemas.microsoft.com/office/drawing/2014/main" id="{19DCE7E0-5FDF-08E3-8F88-EB07442F051F}"/>
              </a:ext>
            </a:extLst>
          </p:cNvPr>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About</a:t>
            </a:r>
          </a:p>
        </p:txBody>
      </p:sp>
      <p:sp>
        <p:nvSpPr>
          <p:cNvPr id="5" name="TextBox 5">
            <a:extLst>
              <a:ext uri="{FF2B5EF4-FFF2-40B4-BE49-F238E27FC236}">
                <a16:creationId xmlns:a16="http://schemas.microsoft.com/office/drawing/2014/main" id="{593A1C15-B6E8-0478-6685-D5809688564E}"/>
              </a:ext>
            </a:extLst>
          </p:cNvPr>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Project</a:t>
            </a:r>
          </a:p>
        </p:txBody>
      </p:sp>
      <p:sp>
        <p:nvSpPr>
          <p:cNvPr id="6" name="TextBox 6">
            <a:extLst>
              <a:ext uri="{FF2B5EF4-FFF2-40B4-BE49-F238E27FC236}">
                <a16:creationId xmlns:a16="http://schemas.microsoft.com/office/drawing/2014/main" id="{D7906263-C0BA-2573-A4ED-5EC37FD69ED1}"/>
              </a:ext>
            </a:extLst>
          </p:cNvPr>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8" name="TextBox 7">
            <a:extLst>
              <a:ext uri="{FF2B5EF4-FFF2-40B4-BE49-F238E27FC236}">
                <a16:creationId xmlns:a16="http://schemas.microsoft.com/office/drawing/2014/main" id="{0FAA98C5-338F-DE1C-E81D-8C6BE8D2481B}"/>
              </a:ext>
            </a:extLst>
          </p:cNvPr>
          <p:cNvSpPr txBox="1"/>
          <p:nvPr/>
        </p:nvSpPr>
        <p:spPr>
          <a:xfrm>
            <a:off x="228600" y="1104900"/>
            <a:ext cx="17754600" cy="1015663"/>
          </a:xfrm>
          <a:prstGeom prst="rect">
            <a:avLst/>
          </a:prstGeom>
          <a:noFill/>
        </p:spPr>
        <p:txBody>
          <a:bodyPr wrap="square">
            <a:spAutoFit/>
          </a:bodyPr>
          <a:lstStyle/>
          <a:p>
            <a:r>
              <a:rPr lang="en-US" sz="6000" b="1" dirty="0">
                <a:solidFill>
                  <a:schemeClr val="bg1"/>
                </a:solidFill>
                <a:latin typeface="Archivo Black" panose="020B0604020202020204" charset="0"/>
              </a:rPr>
              <a:t>Regression:</a:t>
            </a:r>
            <a:r>
              <a:rPr lang="en-US" sz="6000" dirty="0">
                <a:solidFill>
                  <a:schemeClr val="bg1"/>
                </a:solidFill>
                <a:latin typeface="Archivo Black" panose="020B0604020202020204" charset="0"/>
              </a:rPr>
              <a:t> Black Rating vs. White Rating</a:t>
            </a:r>
          </a:p>
        </p:txBody>
      </p:sp>
      <p:pic>
        <p:nvPicPr>
          <p:cNvPr id="10" name="Picture 9">
            <a:extLst>
              <a:ext uri="{FF2B5EF4-FFF2-40B4-BE49-F238E27FC236}">
                <a16:creationId xmlns:a16="http://schemas.microsoft.com/office/drawing/2014/main" id="{5D43A611-F04F-4B47-9275-0E19A002EF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91428" y="2541568"/>
            <a:ext cx="6569009" cy="4191363"/>
          </a:xfrm>
          <a:prstGeom prst="rect">
            <a:avLst/>
          </a:prstGeom>
        </p:spPr>
      </p:pic>
      <p:sp>
        <p:nvSpPr>
          <p:cNvPr id="12" name="TextBox 11">
            <a:extLst>
              <a:ext uri="{FF2B5EF4-FFF2-40B4-BE49-F238E27FC236}">
                <a16:creationId xmlns:a16="http://schemas.microsoft.com/office/drawing/2014/main" id="{C37A98E1-0E61-8E8A-B3A7-B6AB59AE4638}"/>
              </a:ext>
            </a:extLst>
          </p:cNvPr>
          <p:cNvSpPr txBox="1"/>
          <p:nvPr/>
        </p:nvSpPr>
        <p:spPr>
          <a:xfrm>
            <a:off x="1027563" y="3238500"/>
            <a:ext cx="7353300" cy="369332"/>
          </a:xfrm>
          <a:prstGeom prst="rect">
            <a:avLst/>
          </a:prstGeom>
          <a:noFill/>
        </p:spPr>
        <p:txBody>
          <a:bodyPr wrap="square" rtlCol="0">
            <a:spAutoFit/>
          </a:bodyPr>
          <a:lstStyle/>
          <a:p>
            <a:r>
              <a:rPr lang="en-US" dirty="0">
                <a:solidFill>
                  <a:schemeClr val="bg1"/>
                </a:solidFill>
                <a:latin typeface="Canva Sans" panose="020B0604020202020204" charset="0"/>
              </a:rPr>
              <a:t>Regression equation:  Black Rating = 577.05 + 0.63(White Rating) </a:t>
            </a: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99702522-75C4-D519-6BD3-25B9CF6C71D5}"/>
                  </a:ext>
                </a:extLst>
              </p:cNvPr>
              <p:cNvSpPr txBox="1"/>
              <p:nvPr/>
            </p:nvSpPr>
            <p:spPr>
              <a:xfrm>
                <a:off x="1025288" y="4000500"/>
                <a:ext cx="8686800" cy="2541080"/>
              </a:xfrm>
              <a:prstGeom prst="rect">
                <a:avLst/>
              </a:prstGeom>
              <a:noFill/>
            </p:spPr>
            <p:txBody>
              <a:bodyPr wrap="square" rtlCol="0">
                <a:spAutoFit/>
              </a:bodyPr>
              <a:lstStyle/>
              <a:p>
                <a:pPr>
                  <a:lnSpc>
                    <a:spcPct val="150000"/>
                  </a:lnSpc>
                </a:pPr>
                <a:r>
                  <a:rPr lang="en-US" dirty="0">
                    <a:solidFill>
                      <a:schemeClr val="bg1"/>
                    </a:solidFill>
                    <a:latin typeface="Canva Sans" panose="020B0604020202020204" charset="0"/>
                  </a:rPr>
                  <a:t>Interpretation:</a:t>
                </a:r>
              </a:p>
              <a:p>
                <a:pPr marL="285750" indent="-285750">
                  <a:lnSpc>
                    <a:spcPct val="150000"/>
                  </a:lnSpc>
                  <a:buFont typeface="Wingdings" panose="05000000000000000000" pitchFamily="2" charset="2"/>
                  <a:buChar char="v"/>
                </a:pPr>
                <a:r>
                  <a:rPr lang="en-US" dirty="0">
                    <a:solidFill>
                      <a:schemeClr val="bg1"/>
                    </a:solidFill>
                    <a:latin typeface="Canva Sans" panose="020B0604020202020204" charset="0"/>
                  </a:rPr>
                  <a:t>577.05 (intercept): the baseline value.</a:t>
                </a:r>
              </a:p>
              <a:p>
                <a:pPr marL="285750" indent="-285750">
                  <a:lnSpc>
                    <a:spcPct val="150000"/>
                  </a:lnSpc>
                  <a:buFont typeface="Wingdings" panose="05000000000000000000" pitchFamily="2" charset="2"/>
                  <a:buChar char="v"/>
                </a:pPr>
                <a:r>
                  <a:rPr lang="en-US" dirty="0">
                    <a:solidFill>
                      <a:schemeClr val="bg1"/>
                    </a:solidFill>
                    <a:latin typeface="Canva Sans" panose="020B0604020202020204" charset="0"/>
                  </a:rPr>
                  <a:t>0.63 (slope): for every 1-point increase in White’s rating, Black’s rating increase by 0.63-points</a:t>
                </a:r>
              </a:p>
              <a:p>
                <a:pPr marL="285750" indent="-285750">
                  <a:lnSpc>
                    <a:spcPct val="150000"/>
                  </a:lnSpc>
                  <a:buFont typeface="Wingdings" panose="05000000000000000000" pitchFamily="2" charset="2"/>
                  <a:buChar char="v"/>
                </a:pPr>
                <a:r>
                  <a:rPr lang="en-US" dirty="0">
                    <a:solidFill>
                      <a:schemeClr val="bg1"/>
                    </a:solidFill>
                    <a:latin typeface="Canva Sans" panose="020B0604020202020204" charset="0"/>
                  </a:rPr>
                  <a:t>Key finding: this positive slope proves that higher-rated players are consistently paired against stronger opponents </a:t>
                </a:r>
                <a14:m>
                  <m:oMath xmlns:m="http://schemas.openxmlformats.org/officeDocument/2006/math">
                    <m:sSup>
                      <m:sSupPr>
                        <m:ctrlPr>
                          <a:rPr lang="en-US" i="1">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𝑅</m:t>
                        </m:r>
                      </m:e>
                      <m:sup>
                        <m:r>
                          <a:rPr lang="en-US" i="1">
                            <a:solidFill>
                              <a:schemeClr val="bg1"/>
                            </a:solidFill>
                            <a:latin typeface="Cambria Math" panose="02040503050406030204" pitchFamily="18" charset="0"/>
                          </a:rPr>
                          <m:t>2</m:t>
                        </m:r>
                      </m:sup>
                    </m:sSup>
                  </m:oMath>
                </a14:m>
                <a:r>
                  <a:rPr lang="en-US" dirty="0">
                    <a:solidFill>
                      <a:schemeClr val="bg1"/>
                    </a:solidFill>
                    <a:latin typeface="Canva Sans" panose="020B0604020202020204" charset="0"/>
                  </a:rPr>
                  <a:t> =40.2%). </a:t>
                </a:r>
              </a:p>
            </p:txBody>
          </p:sp>
        </mc:Choice>
        <mc:Fallback>
          <p:sp>
            <p:nvSpPr>
              <p:cNvPr id="16" name="TextBox 15">
                <a:extLst>
                  <a:ext uri="{FF2B5EF4-FFF2-40B4-BE49-F238E27FC236}">
                    <a16:creationId xmlns:a16="http://schemas.microsoft.com/office/drawing/2014/main" id="{99702522-75C4-D519-6BD3-25B9CF6C71D5}"/>
                  </a:ext>
                </a:extLst>
              </p:cNvPr>
              <p:cNvSpPr txBox="1">
                <a:spLocks noRot="1" noChangeAspect="1" noMove="1" noResize="1" noEditPoints="1" noAdjustHandles="1" noChangeArrowheads="1" noChangeShapeType="1" noTextEdit="1"/>
              </p:cNvSpPr>
              <p:nvPr/>
            </p:nvSpPr>
            <p:spPr>
              <a:xfrm>
                <a:off x="1025288" y="4000500"/>
                <a:ext cx="8686800" cy="2541080"/>
              </a:xfrm>
              <a:prstGeom prst="rect">
                <a:avLst/>
              </a:prstGeom>
              <a:blipFill>
                <a:blip r:embed="rId8"/>
                <a:stretch>
                  <a:fillRect l="-561" b="-2878"/>
                </a:stretch>
              </a:blipFill>
            </p:spPr>
            <p:txBody>
              <a:bodyPr/>
              <a:lstStyle/>
              <a:p>
                <a:r>
                  <a:rPr lang="en-US">
                    <a:noFill/>
                  </a:rPr>
                  <a:t> </a:t>
                </a:r>
              </a:p>
            </p:txBody>
          </p:sp>
        </mc:Fallback>
      </mc:AlternateContent>
    </p:spTree>
    <p:extLst>
      <p:ext uri="{BB962C8B-B14F-4D97-AF65-F5344CB8AC3E}">
        <p14:creationId xmlns:p14="http://schemas.microsoft.com/office/powerpoint/2010/main" val="3733744480"/>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1732B1D3-EFC4-EA6F-7F14-23F816882A9A}"/>
              </a:ext>
            </a:extLst>
          </p:cNvPr>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C4A419C7-BDBA-AECD-702A-1AEF40F0AF94}"/>
              </a:ext>
            </a:extLst>
          </p:cNvPr>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5">
              <a:extLst>
                <a:ext uri="{96DAC541-7B7A-43D3-8B79-37D633B846F1}">
                  <asvg:svgBlip xmlns:asvg="http://schemas.microsoft.com/office/drawing/2016/SVG/main" r:embed="rId6"/>
                </a:ext>
              </a:extLst>
            </a:blip>
            <a:stretch>
              <a:fillRect t="-419" b="-424"/>
            </a:stretch>
          </a:blipFill>
        </p:spPr>
        <p:txBody>
          <a:bodyPr/>
          <a:lstStyle/>
          <a:p>
            <a:endParaRPr lang="en-US"/>
          </a:p>
        </p:txBody>
      </p:sp>
      <p:sp>
        <p:nvSpPr>
          <p:cNvPr id="4" name="TextBox 4">
            <a:extLst>
              <a:ext uri="{FF2B5EF4-FFF2-40B4-BE49-F238E27FC236}">
                <a16:creationId xmlns:a16="http://schemas.microsoft.com/office/drawing/2014/main" id="{E82DCC3B-8A6D-FF7A-3C89-4000DE871304}"/>
              </a:ext>
            </a:extLst>
          </p:cNvPr>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About</a:t>
            </a:r>
          </a:p>
        </p:txBody>
      </p:sp>
      <p:sp>
        <p:nvSpPr>
          <p:cNvPr id="5" name="TextBox 5">
            <a:extLst>
              <a:ext uri="{FF2B5EF4-FFF2-40B4-BE49-F238E27FC236}">
                <a16:creationId xmlns:a16="http://schemas.microsoft.com/office/drawing/2014/main" id="{34466524-F011-C00F-C6B1-109FBE962552}"/>
              </a:ext>
            </a:extLst>
          </p:cNvPr>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Project</a:t>
            </a:r>
          </a:p>
        </p:txBody>
      </p:sp>
      <p:sp>
        <p:nvSpPr>
          <p:cNvPr id="6" name="TextBox 6">
            <a:extLst>
              <a:ext uri="{FF2B5EF4-FFF2-40B4-BE49-F238E27FC236}">
                <a16:creationId xmlns:a16="http://schemas.microsoft.com/office/drawing/2014/main" id="{17509EAB-1E2F-46C1-5AED-9792C6EFFC35}"/>
              </a:ext>
            </a:extLst>
          </p:cNvPr>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10" name="TextBox 9">
            <a:extLst>
              <a:ext uri="{FF2B5EF4-FFF2-40B4-BE49-F238E27FC236}">
                <a16:creationId xmlns:a16="http://schemas.microsoft.com/office/drawing/2014/main" id="{0FD9839D-4BD2-28A9-589C-E3D9C14A757B}"/>
              </a:ext>
            </a:extLst>
          </p:cNvPr>
          <p:cNvSpPr txBox="1"/>
          <p:nvPr/>
        </p:nvSpPr>
        <p:spPr>
          <a:xfrm>
            <a:off x="457200" y="1028700"/>
            <a:ext cx="18288000" cy="1015663"/>
          </a:xfrm>
          <a:prstGeom prst="rect">
            <a:avLst/>
          </a:prstGeom>
          <a:noFill/>
        </p:spPr>
        <p:txBody>
          <a:bodyPr wrap="square">
            <a:spAutoFit/>
          </a:bodyPr>
          <a:lstStyle/>
          <a:p>
            <a:r>
              <a:rPr lang="en-US" sz="6000" b="1" dirty="0">
                <a:solidFill>
                  <a:schemeClr val="bg1"/>
                </a:solidFill>
                <a:latin typeface="Archivo Black" panose="020B0604020202020204" charset="0"/>
              </a:rPr>
              <a:t>Regression:</a:t>
            </a:r>
            <a:r>
              <a:rPr lang="en-US" sz="6000" dirty="0">
                <a:solidFill>
                  <a:schemeClr val="bg1"/>
                </a:solidFill>
                <a:latin typeface="Archivo Black" panose="020B0604020202020204" charset="0"/>
              </a:rPr>
              <a:t> Rating vs. Turns </a:t>
            </a:r>
          </a:p>
        </p:txBody>
      </p:sp>
      <p:pic>
        <p:nvPicPr>
          <p:cNvPr id="14" name="Picture 13">
            <a:extLst>
              <a:ext uri="{FF2B5EF4-FFF2-40B4-BE49-F238E27FC236}">
                <a16:creationId xmlns:a16="http://schemas.microsoft.com/office/drawing/2014/main" id="{5572E6CA-2424-C142-3584-1AD159198DC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15600" y="2552700"/>
            <a:ext cx="7430841" cy="4741256"/>
          </a:xfrm>
          <a:prstGeom prst="rect">
            <a:avLst/>
          </a:prstGeom>
        </p:spPr>
      </p:pic>
      <p:sp>
        <p:nvSpPr>
          <p:cNvPr id="16" name="TextBox 15">
            <a:extLst>
              <a:ext uri="{FF2B5EF4-FFF2-40B4-BE49-F238E27FC236}">
                <a16:creationId xmlns:a16="http://schemas.microsoft.com/office/drawing/2014/main" id="{34817F61-EA29-C733-D53C-C7A3D0D83011}"/>
              </a:ext>
            </a:extLst>
          </p:cNvPr>
          <p:cNvSpPr txBox="1"/>
          <p:nvPr/>
        </p:nvSpPr>
        <p:spPr>
          <a:xfrm>
            <a:off x="1028700" y="3009900"/>
            <a:ext cx="9376012" cy="369332"/>
          </a:xfrm>
          <a:prstGeom prst="rect">
            <a:avLst/>
          </a:prstGeom>
          <a:noFill/>
        </p:spPr>
        <p:txBody>
          <a:bodyPr wrap="square">
            <a:spAutoFit/>
          </a:bodyPr>
          <a:lstStyle/>
          <a:p>
            <a:r>
              <a:rPr lang="en-US" dirty="0">
                <a:solidFill>
                  <a:schemeClr val="bg1"/>
                </a:solidFill>
                <a:latin typeface="Canva Sans" panose="020B0604020202020204" charset="0"/>
              </a:rPr>
              <a:t>Regression equation:  Turns = 27.85+ 0.02(Average Rating) </a:t>
            </a: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ADA44D05-C8E5-AE1A-8973-73555309E1DA}"/>
                  </a:ext>
                </a:extLst>
              </p:cNvPr>
              <p:cNvSpPr txBox="1"/>
              <p:nvPr/>
            </p:nvSpPr>
            <p:spPr>
              <a:xfrm>
                <a:off x="1025288" y="4000500"/>
                <a:ext cx="9109312" cy="2956579"/>
              </a:xfrm>
              <a:prstGeom prst="rect">
                <a:avLst/>
              </a:prstGeom>
              <a:noFill/>
            </p:spPr>
            <p:txBody>
              <a:bodyPr wrap="square" rtlCol="0">
                <a:spAutoFit/>
              </a:bodyPr>
              <a:lstStyle/>
              <a:p>
                <a:pPr>
                  <a:lnSpc>
                    <a:spcPct val="150000"/>
                  </a:lnSpc>
                </a:pPr>
                <a:r>
                  <a:rPr lang="en-US" dirty="0">
                    <a:solidFill>
                      <a:schemeClr val="bg1"/>
                    </a:solidFill>
                    <a:latin typeface="Canva Sans" panose="020B0604020202020204" charset="0"/>
                  </a:rPr>
                  <a:t>Interpretation:</a:t>
                </a:r>
              </a:p>
              <a:p>
                <a:pPr marL="285750" indent="-285750">
                  <a:lnSpc>
                    <a:spcPct val="150000"/>
                  </a:lnSpc>
                  <a:buFont typeface="Wingdings" panose="05000000000000000000" pitchFamily="2" charset="2"/>
                  <a:buChar char="v"/>
                </a:pPr>
                <a:r>
                  <a:rPr lang="en-US" dirty="0">
                    <a:solidFill>
                      <a:schemeClr val="bg1"/>
                    </a:solidFill>
                    <a:latin typeface="Canva Sans" panose="020B0604020202020204" charset="0"/>
                  </a:rPr>
                  <a:t>27.85 (Intercept): The theoretical game length for a player with a rating of 0.</a:t>
                </a:r>
              </a:p>
              <a:p>
                <a:pPr marL="285750" indent="-285750">
                  <a:lnSpc>
                    <a:spcPct val="150000"/>
                  </a:lnSpc>
                  <a:buFont typeface="Wingdings" panose="05000000000000000000" pitchFamily="2" charset="2"/>
                  <a:buChar char="v"/>
                </a:pPr>
                <a:r>
                  <a:rPr lang="en-US" dirty="0">
                    <a:solidFill>
                      <a:schemeClr val="bg1"/>
                    </a:solidFill>
                    <a:latin typeface="Canva Sans" panose="020B0604020202020204" charset="0"/>
                  </a:rPr>
                  <a:t>0.02 (Slope): This number is very small. It means that for every 100 points a player's rating increases, the game lasts only 2 extra moves.</a:t>
                </a:r>
              </a:p>
              <a:p>
                <a:pPr marL="285750" indent="-285750">
                  <a:lnSpc>
                    <a:spcPct val="150000"/>
                  </a:lnSpc>
                  <a:buFont typeface="Wingdings" panose="05000000000000000000" pitchFamily="2" charset="2"/>
                  <a:buChar char="v"/>
                </a:pPr>
                <a:r>
                  <a:rPr lang="en-US" dirty="0">
                    <a:solidFill>
                      <a:schemeClr val="bg1"/>
                    </a:solidFill>
                    <a:latin typeface="Canva Sans" panose="020B0604020202020204" charset="0"/>
                  </a:rPr>
                  <a:t>Key Finding: Although the relationship is statistically significant, the effect is weak (</a:t>
                </a:r>
                <a14:m>
                  <m:oMath xmlns:m="http://schemas.openxmlformats.org/officeDocument/2006/math">
                    <m:sSup>
                      <m:sSupPr>
                        <m:ctrlPr>
                          <a:rPr lang="en-US"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𝑅</m:t>
                        </m:r>
                      </m:e>
                      <m:sup>
                        <m:r>
                          <a:rPr lang="en-US" i="1" smtClean="0">
                            <a:solidFill>
                              <a:schemeClr val="bg1"/>
                            </a:solidFill>
                            <a:latin typeface="Cambria Math" panose="02040503050406030204" pitchFamily="18" charset="0"/>
                          </a:rPr>
                          <m:t>2</m:t>
                        </m:r>
                      </m:sup>
                    </m:sSup>
                  </m:oMath>
                </a14:m>
                <a:r>
                  <a:rPr lang="en-US" dirty="0">
                    <a:solidFill>
                      <a:schemeClr val="bg1"/>
                    </a:solidFill>
                    <a:latin typeface="Canva Sans" panose="020B0604020202020204" charset="0"/>
                  </a:rPr>
                  <a:t> =2.6%). Skill level is not the main factor that decides how long a game lasts.</a:t>
                </a:r>
              </a:p>
            </p:txBody>
          </p:sp>
        </mc:Choice>
        <mc:Fallback>
          <p:sp>
            <p:nvSpPr>
              <p:cNvPr id="17" name="TextBox 16">
                <a:extLst>
                  <a:ext uri="{FF2B5EF4-FFF2-40B4-BE49-F238E27FC236}">
                    <a16:creationId xmlns:a16="http://schemas.microsoft.com/office/drawing/2014/main" id="{ADA44D05-C8E5-AE1A-8973-73555309E1DA}"/>
                  </a:ext>
                </a:extLst>
              </p:cNvPr>
              <p:cNvSpPr txBox="1">
                <a:spLocks noRot="1" noChangeAspect="1" noMove="1" noResize="1" noEditPoints="1" noAdjustHandles="1" noChangeArrowheads="1" noChangeShapeType="1" noTextEdit="1"/>
              </p:cNvSpPr>
              <p:nvPr/>
            </p:nvSpPr>
            <p:spPr>
              <a:xfrm>
                <a:off x="1025288" y="4000500"/>
                <a:ext cx="9109312" cy="2956579"/>
              </a:xfrm>
              <a:prstGeom prst="rect">
                <a:avLst/>
              </a:prstGeom>
              <a:blipFill>
                <a:blip r:embed="rId8"/>
                <a:stretch>
                  <a:fillRect l="-535" r="-468" b="-2474"/>
                </a:stretch>
              </a:blipFill>
            </p:spPr>
            <p:txBody>
              <a:bodyPr/>
              <a:lstStyle/>
              <a:p>
                <a:r>
                  <a:rPr lang="en-US">
                    <a:noFill/>
                  </a:rPr>
                  <a:t> </a:t>
                </a:r>
              </a:p>
            </p:txBody>
          </p:sp>
        </mc:Fallback>
      </mc:AlternateContent>
    </p:spTree>
    <p:extLst>
      <p:ext uri="{BB962C8B-B14F-4D97-AF65-F5344CB8AC3E}">
        <p14:creationId xmlns:p14="http://schemas.microsoft.com/office/powerpoint/2010/main" val="2727144240"/>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C2551BA8-6507-6536-BD6D-A55AD376CDFE}"/>
              </a:ext>
            </a:extLst>
          </p:cNvPr>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9B80904B-9A3E-CFA8-F5C3-DA4720775769}"/>
              </a:ext>
            </a:extLst>
          </p:cNvPr>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5">
              <a:extLst>
                <a:ext uri="{96DAC541-7B7A-43D3-8B79-37D633B846F1}">
                  <asvg:svgBlip xmlns:asvg="http://schemas.microsoft.com/office/drawing/2016/SVG/main" r:embed="rId6"/>
                </a:ext>
              </a:extLst>
            </a:blip>
            <a:stretch>
              <a:fillRect t="-419" b="-424"/>
            </a:stretch>
          </a:blipFill>
        </p:spPr>
        <p:txBody>
          <a:bodyPr/>
          <a:lstStyle/>
          <a:p>
            <a:endParaRPr lang="en-US"/>
          </a:p>
        </p:txBody>
      </p:sp>
      <p:sp>
        <p:nvSpPr>
          <p:cNvPr id="4" name="TextBox 4">
            <a:extLst>
              <a:ext uri="{FF2B5EF4-FFF2-40B4-BE49-F238E27FC236}">
                <a16:creationId xmlns:a16="http://schemas.microsoft.com/office/drawing/2014/main" id="{63DF62FA-A318-4426-F0D9-4738DA9553A2}"/>
              </a:ext>
            </a:extLst>
          </p:cNvPr>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About</a:t>
            </a:r>
          </a:p>
        </p:txBody>
      </p:sp>
      <p:sp>
        <p:nvSpPr>
          <p:cNvPr id="5" name="TextBox 5">
            <a:extLst>
              <a:ext uri="{FF2B5EF4-FFF2-40B4-BE49-F238E27FC236}">
                <a16:creationId xmlns:a16="http://schemas.microsoft.com/office/drawing/2014/main" id="{9E6E668C-78A5-40D1-01EC-F6F76D72DEE3}"/>
              </a:ext>
            </a:extLst>
          </p:cNvPr>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dirty="0">
                <a:solidFill>
                  <a:srgbClr val="FFFFFF"/>
                </a:solidFill>
                <a:latin typeface="Open Sans"/>
                <a:ea typeface="Open Sans"/>
                <a:cs typeface="Open Sans"/>
                <a:sym typeface="Open Sans"/>
              </a:rPr>
              <a:t>Project</a:t>
            </a:r>
          </a:p>
        </p:txBody>
      </p:sp>
      <p:sp>
        <p:nvSpPr>
          <p:cNvPr id="6" name="TextBox 6">
            <a:extLst>
              <a:ext uri="{FF2B5EF4-FFF2-40B4-BE49-F238E27FC236}">
                <a16:creationId xmlns:a16="http://schemas.microsoft.com/office/drawing/2014/main" id="{55377A62-F95B-BE3C-4F34-872154EAC091}"/>
              </a:ext>
            </a:extLst>
          </p:cNvPr>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7" name="TextBox 6">
            <a:extLst>
              <a:ext uri="{FF2B5EF4-FFF2-40B4-BE49-F238E27FC236}">
                <a16:creationId xmlns:a16="http://schemas.microsoft.com/office/drawing/2014/main" id="{ED509B1A-8842-02A4-8822-8DBD57EFEE62}"/>
              </a:ext>
            </a:extLst>
          </p:cNvPr>
          <p:cNvSpPr txBox="1"/>
          <p:nvPr/>
        </p:nvSpPr>
        <p:spPr>
          <a:xfrm>
            <a:off x="914400" y="876300"/>
            <a:ext cx="14744700" cy="1138773"/>
          </a:xfrm>
          <a:prstGeom prst="rect">
            <a:avLst/>
          </a:prstGeom>
          <a:noFill/>
        </p:spPr>
        <p:txBody>
          <a:bodyPr wrap="square" rtlCol="0">
            <a:spAutoFit/>
          </a:bodyPr>
          <a:lstStyle/>
          <a:p>
            <a:r>
              <a:rPr lang="en-US" sz="6800" dirty="0">
                <a:solidFill>
                  <a:schemeClr val="bg1"/>
                </a:solidFill>
                <a:latin typeface="Archivo Black" panose="020B0604020202020204" charset="0"/>
              </a:rPr>
              <a:t>Conclusion &amp; Key Findings</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4E506A9-62E1-11CF-C4FB-DDDFBBCA46F7}"/>
                  </a:ext>
                </a:extLst>
              </p:cNvPr>
              <p:cNvSpPr txBox="1"/>
              <p:nvPr/>
            </p:nvSpPr>
            <p:spPr>
              <a:xfrm>
                <a:off x="1028700" y="2628900"/>
                <a:ext cx="7505700" cy="7709803"/>
              </a:xfrm>
              <a:prstGeom prst="rect">
                <a:avLst/>
              </a:prstGeom>
              <a:noFill/>
            </p:spPr>
            <p:txBody>
              <a:bodyPr wrap="square" rtlCol="0">
                <a:spAutoFit/>
              </a:bodyPr>
              <a:lstStyle/>
              <a:p>
                <a:pPr marL="342900" indent="-342900">
                  <a:lnSpc>
                    <a:spcPct val="150000"/>
                  </a:lnSpc>
                  <a:buFont typeface="+mj-lt"/>
                  <a:buAutoNum type="arabicPeriod"/>
                </a:pPr>
                <a:r>
                  <a:rPr lang="en-US" dirty="0">
                    <a:solidFill>
                      <a:schemeClr val="bg1"/>
                    </a:solidFill>
                    <a:latin typeface="Canva Sans" panose="020B0604020202020204" charset="0"/>
                  </a:rPr>
                  <a:t>No "First-Mover" Advantage</a:t>
                </a:r>
              </a:p>
              <a:p>
                <a:pPr marL="742950" lvl="1" indent="-285750">
                  <a:lnSpc>
                    <a:spcPct val="150000"/>
                  </a:lnSpc>
                  <a:buFont typeface="Arial" panose="020B0604020202020204" pitchFamily="34" charset="0"/>
                  <a:buChar char="•"/>
                </a:pPr>
                <a:r>
                  <a:rPr lang="en-US" dirty="0">
                    <a:solidFill>
                      <a:schemeClr val="bg1"/>
                    </a:solidFill>
                    <a:latin typeface="Canva Sans" panose="020B0604020202020204" charset="0"/>
                  </a:rPr>
                  <a:t>White wins 49.9% of games. We found no statistical evidence that moving first gives White a significant advantage in this dataset.</a:t>
                </a:r>
              </a:p>
              <a:p>
                <a:pPr marL="342900" indent="-342900">
                  <a:lnSpc>
                    <a:spcPct val="150000"/>
                  </a:lnSpc>
                  <a:buFont typeface="+mj-lt"/>
                  <a:buAutoNum type="arabicPeriod"/>
                </a:pPr>
                <a:r>
                  <a:rPr lang="en-US" dirty="0">
                    <a:solidFill>
                      <a:schemeClr val="bg1"/>
                    </a:solidFill>
                    <a:latin typeface="Canva Sans" panose="020B0604020202020204" charset="0"/>
                  </a:rPr>
                  <a:t>Skill Predicts Victory</a:t>
                </a:r>
              </a:p>
              <a:p>
                <a:pPr marL="742950" lvl="1" indent="-285750">
                  <a:lnSpc>
                    <a:spcPct val="150000"/>
                  </a:lnSpc>
                  <a:buFont typeface="Arial" panose="020B0604020202020204" pitchFamily="34" charset="0"/>
                  <a:buChar char="•"/>
                </a:pPr>
                <a:r>
                  <a:rPr lang="en-US" dirty="0">
                    <a:solidFill>
                      <a:schemeClr val="bg1"/>
                    </a:solidFill>
                    <a:latin typeface="Canva Sans" panose="020B0604020202020204" charset="0"/>
                  </a:rPr>
                  <a:t>Our ANOVA results confirmed that the winner’s rating is significantly higher than the loser’s. Outcomes are determined by skill, not luck.</a:t>
                </a:r>
                <a:endParaRPr lang="en-US" b="1" dirty="0">
                  <a:solidFill>
                    <a:schemeClr val="bg1"/>
                  </a:solidFill>
                  <a:latin typeface="Canva Sans" panose="020B0604020202020204" charset="0"/>
                </a:endParaRPr>
              </a:p>
              <a:p>
                <a:pPr marL="342900" indent="-342900">
                  <a:lnSpc>
                    <a:spcPct val="150000"/>
                  </a:lnSpc>
                  <a:buFont typeface="+mj-lt"/>
                  <a:buAutoNum type="arabicPeriod"/>
                </a:pPr>
                <a:r>
                  <a:rPr lang="en-US" b="1" dirty="0">
                    <a:solidFill>
                      <a:schemeClr val="bg1"/>
                    </a:solidFill>
                    <a:latin typeface="Canva Sans" panose="020B0604020202020204" charset="0"/>
                  </a:rPr>
                  <a:t>Skill Matching is Effective</a:t>
                </a:r>
                <a:endParaRPr lang="en-US" dirty="0">
                  <a:solidFill>
                    <a:schemeClr val="bg1"/>
                  </a:solidFill>
                  <a:latin typeface="Canva Sans" panose="020B0604020202020204" charset="0"/>
                </a:endParaRPr>
              </a:p>
              <a:p>
                <a:pPr marL="800100" lvl="1" indent="-342900">
                  <a:lnSpc>
                    <a:spcPct val="150000"/>
                  </a:lnSpc>
                  <a:buFont typeface="Arial" panose="020B0604020202020204" pitchFamily="34" charset="0"/>
                  <a:buChar char="•"/>
                </a:pPr>
                <a:r>
                  <a:rPr lang="en-US" dirty="0">
                    <a:solidFill>
                      <a:schemeClr val="bg1"/>
                    </a:solidFill>
                    <a:latin typeface="Canva Sans" panose="020B0604020202020204" charset="0"/>
                  </a:rPr>
                  <a:t>Our regression analysis </a:t>
                </a:r>
                <a14:m>
                  <m:oMath xmlns:m="http://schemas.openxmlformats.org/officeDocument/2006/math">
                    <m:r>
                      <a:rPr lang="en-US" b="0" i="0" smtClean="0">
                        <a:solidFill>
                          <a:schemeClr val="bg1"/>
                        </a:solidFill>
                        <a:latin typeface="Cambria Math" panose="02040503050406030204" pitchFamily="18" charset="0"/>
                      </a:rPr>
                      <m:t>(</m:t>
                    </m:r>
                    <m:sSup>
                      <m:sSupPr>
                        <m:ctrlPr>
                          <a:rPr lang="en-US" i="1">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𝑅</m:t>
                        </m:r>
                      </m:e>
                      <m:sup>
                        <m:r>
                          <a:rPr lang="en-US" i="1">
                            <a:solidFill>
                              <a:schemeClr val="bg1"/>
                            </a:solidFill>
                            <a:latin typeface="Cambria Math" panose="02040503050406030204" pitchFamily="18" charset="0"/>
                          </a:rPr>
                          <m:t>2</m:t>
                        </m:r>
                      </m:sup>
                    </m:sSup>
                  </m:oMath>
                </a14:m>
                <a:r>
                  <a:rPr lang="en-US" dirty="0">
                    <a:solidFill>
                      <a:schemeClr val="bg1"/>
                    </a:solidFill>
                    <a:latin typeface="Canva Sans" panose="020B0604020202020204" charset="0"/>
                  </a:rPr>
                  <a:t> =40.2%) proves that high-rated players are consistently paired with other high-rated players, confirming the platform's matchmaking works.</a:t>
                </a:r>
              </a:p>
              <a:p>
                <a:pPr marL="342900" indent="-342900">
                  <a:lnSpc>
                    <a:spcPct val="150000"/>
                  </a:lnSpc>
                  <a:buFont typeface="+mj-lt"/>
                  <a:buAutoNum type="arabicPeriod"/>
                </a:pPr>
                <a:r>
                  <a:rPr lang="en-US" dirty="0">
                    <a:solidFill>
                      <a:schemeClr val="bg1"/>
                    </a:solidFill>
                    <a:latin typeface="Canva Sans" panose="020B0604020202020204" charset="0"/>
                  </a:rPr>
                  <a:t>Game Length &amp; Strategy</a:t>
                </a:r>
              </a:p>
              <a:p>
                <a:pPr marL="742950" lvl="1" indent="-285750">
                  <a:lnSpc>
                    <a:spcPct val="150000"/>
                  </a:lnSpc>
                  <a:buFont typeface="Arial" panose="020B0604020202020204" pitchFamily="34" charset="0"/>
                  <a:buChar char="•"/>
                </a:pPr>
                <a:r>
                  <a:rPr lang="en-US" dirty="0">
                    <a:solidFill>
                      <a:schemeClr val="bg1"/>
                    </a:solidFill>
                    <a:latin typeface="Canva Sans" panose="020B0604020202020204" charset="0"/>
                  </a:rPr>
                  <a:t>While higher-rated players play slightly longer games, the correlation is very weak (</a:t>
                </a:r>
                <a14:m>
                  <m:oMath xmlns:m="http://schemas.openxmlformats.org/officeDocument/2006/math">
                    <m:sSup>
                      <m:sSupPr>
                        <m:ctrlPr>
                          <a:rPr lang="en-US" i="1">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𝑅</m:t>
                        </m:r>
                      </m:e>
                      <m:sup>
                        <m:r>
                          <a:rPr lang="en-US" i="1">
                            <a:solidFill>
                              <a:schemeClr val="bg1"/>
                            </a:solidFill>
                            <a:latin typeface="Cambria Math" panose="02040503050406030204" pitchFamily="18" charset="0"/>
                          </a:rPr>
                          <m:t>2</m:t>
                        </m:r>
                      </m:sup>
                    </m:sSup>
                  </m:oMath>
                </a14:m>
                <a:r>
                  <a:rPr lang="en-US" dirty="0">
                    <a:solidFill>
                      <a:schemeClr val="bg1"/>
                    </a:solidFill>
                    <a:latin typeface="Canva Sans" panose="020B0604020202020204" charset="0"/>
                  </a:rPr>
                  <a:t> =2.6%).</a:t>
                </a:r>
              </a:p>
              <a:p>
                <a:pPr marL="742950" lvl="1" indent="-285750">
                  <a:lnSpc>
                    <a:spcPct val="150000"/>
                  </a:lnSpc>
                  <a:buFont typeface="Arial" panose="020B0604020202020204" pitchFamily="34" charset="0"/>
                  <a:buChar char="•"/>
                </a:pPr>
                <a:r>
                  <a:rPr lang="en-US" dirty="0">
                    <a:solidFill>
                      <a:schemeClr val="bg1"/>
                    </a:solidFill>
                    <a:latin typeface="Canva Sans" panose="020B0604020202020204" charset="0"/>
                  </a:rPr>
                  <a:t>Game duration is determined more by the opening trap or blunders than by the players' ratings.</a:t>
                </a:r>
              </a:p>
              <a:p>
                <a:pPr marL="342900" indent="-342900">
                  <a:buFont typeface="+mj-lt"/>
                  <a:buAutoNum type="arabicPeriod"/>
                </a:pPr>
                <a:endParaRPr lang="en-US" dirty="0">
                  <a:solidFill>
                    <a:schemeClr val="bg1"/>
                  </a:solidFill>
                  <a:latin typeface="Canva Sans" panose="020B0604020202020204" charset="0"/>
                </a:endParaRPr>
              </a:p>
              <a:p>
                <a:pPr lvl="1"/>
                <a:endParaRPr lang="en-US" dirty="0">
                  <a:solidFill>
                    <a:schemeClr val="bg1"/>
                  </a:solidFill>
                  <a:latin typeface="Canva Sans" panose="020B0604020202020204" charset="0"/>
                </a:endParaRPr>
              </a:p>
            </p:txBody>
          </p:sp>
        </mc:Choice>
        <mc:Fallback>
          <p:sp>
            <p:nvSpPr>
              <p:cNvPr id="9" name="TextBox 8">
                <a:extLst>
                  <a:ext uri="{FF2B5EF4-FFF2-40B4-BE49-F238E27FC236}">
                    <a16:creationId xmlns:a16="http://schemas.microsoft.com/office/drawing/2014/main" id="{34E506A9-62E1-11CF-C4FB-DDDFBBCA46F7}"/>
                  </a:ext>
                </a:extLst>
              </p:cNvPr>
              <p:cNvSpPr txBox="1">
                <a:spLocks noRot="1" noChangeAspect="1" noMove="1" noResize="1" noEditPoints="1" noAdjustHandles="1" noChangeArrowheads="1" noChangeShapeType="1" noTextEdit="1"/>
              </p:cNvSpPr>
              <p:nvPr/>
            </p:nvSpPr>
            <p:spPr>
              <a:xfrm>
                <a:off x="1028700" y="2628900"/>
                <a:ext cx="7505700" cy="7709803"/>
              </a:xfrm>
              <a:prstGeom prst="rect">
                <a:avLst/>
              </a:prstGeom>
              <a:blipFill>
                <a:blip r:embed="rId7"/>
                <a:stretch>
                  <a:fillRect l="-975" r="-162"/>
                </a:stretch>
              </a:blipFill>
            </p:spPr>
            <p:txBody>
              <a:bodyPr/>
              <a:lstStyle/>
              <a:p>
                <a:r>
                  <a:rPr lang="en-US">
                    <a:noFill/>
                  </a:rPr>
                  <a:t> </a:t>
                </a:r>
              </a:p>
            </p:txBody>
          </p:sp>
        </mc:Fallback>
      </mc:AlternateContent>
      <p:grpSp>
        <p:nvGrpSpPr>
          <p:cNvPr id="10" name="Group 4">
            <a:extLst>
              <a:ext uri="{FF2B5EF4-FFF2-40B4-BE49-F238E27FC236}">
                <a16:creationId xmlns:a16="http://schemas.microsoft.com/office/drawing/2014/main" id="{E7FDFD71-4962-FBCF-5E70-807F16E2DF3A}"/>
              </a:ext>
            </a:extLst>
          </p:cNvPr>
          <p:cNvGrpSpPr/>
          <p:nvPr/>
        </p:nvGrpSpPr>
        <p:grpSpPr>
          <a:xfrm>
            <a:off x="9858108" y="2287457"/>
            <a:ext cx="6601092" cy="3846643"/>
            <a:chOff x="0" y="0"/>
            <a:chExt cx="8801456" cy="5128857"/>
          </a:xfrm>
        </p:grpSpPr>
        <p:sp>
          <p:nvSpPr>
            <p:cNvPr id="11" name="Freeform 5">
              <a:extLst>
                <a:ext uri="{FF2B5EF4-FFF2-40B4-BE49-F238E27FC236}">
                  <a16:creationId xmlns:a16="http://schemas.microsoft.com/office/drawing/2014/main" id="{B18DC3CA-7281-A5EA-1B51-ED3B4B6916CC}"/>
                </a:ext>
              </a:extLst>
            </p:cNvPr>
            <p:cNvSpPr/>
            <p:nvPr/>
          </p:nvSpPr>
          <p:spPr>
            <a:xfrm>
              <a:off x="0" y="0"/>
              <a:ext cx="8801481" cy="5128895"/>
            </a:xfrm>
            <a:custGeom>
              <a:avLst/>
              <a:gdLst/>
              <a:ahLst/>
              <a:cxnLst/>
              <a:rect l="l" t="t" r="r" b="b"/>
              <a:pathLst>
                <a:path w="8801481" h="5128895">
                  <a:moveTo>
                    <a:pt x="0" y="0"/>
                  </a:moveTo>
                  <a:lnTo>
                    <a:pt x="8801481" y="0"/>
                  </a:lnTo>
                  <a:lnTo>
                    <a:pt x="8801481" y="5128895"/>
                  </a:lnTo>
                  <a:lnTo>
                    <a:pt x="0" y="5128895"/>
                  </a:lnTo>
                  <a:close/>
                </a:path>
              </a:pathLst>
            </a:custGeom>
            <a:blipFill>
              <a:blip r:embed="rId8"/>
              <a:stretch>
                <a:fillRect l="-1793" r="-1793"/>
              </a:stretch>
            </a:blipFill>
          </p:spPr>
          <p:txBody>
            <a:bodyPr/>
            <a:lstStyle/>
            <a:p>
              <a:endParaRPr lang="en-US"/>
            </a:p>
          </p:txBody>
        </p:sp>
      </p:grpSp>
      <p:grpSp>
        <p:nvGrpSpPr>
          <p:cNvPr id="12" name="Group 6">
            <a:extLst>
              <a:ext uri="{FF2B5EF4-FFF2-40B4-BE49-F238E27FC236}">
                <a16:creationId xmlns:a16="http://schemas.microsoft.com/office/drawing/2014/main" id="{DEEF39A2-3B73-7506-AE71-DD1FD654A395}"/>
              </a:ext>
            </a:extLst>
          </p:cNvPr>
          <p:cNvGrpSpPr/>
          <p:nvPr/>
        </p:nvGrpSpPr>
        <p:grpSpPr>
          <a:xfrm>
            <a:off x="11077308" y="6249857"/>
            <a:ext cx="6601092" cy="3846643"/>
            <a:chOff x="0" y="0"/>
            <a:chExt cx="8801456" cy="5128857"/>
          </a:xfrm>
        </p:grpSpPr>
        <p:sp>
          <p:nvSpPr>
            <p:cNvPr id="13" name="Freeform 7">
              <a:extLst>
                <a:ext uri="{FF2B5EF4-FFF2-40B4-BE49-F238E27FC236}">
                  <a16:creationId xmlns:a16="http://schemas.microsoft.com/office/drawing/2014/main" id="{62097FFE-940B-5D3B-B0B5-539743424AE9}"/>
                </a:ext>
              </a:extLst>
            </p:cNvPr>
            <p:cNvSpPr/>
            <p:nvPr/>
          </p:nvSpPr>
          <p:spPr>
            <a:xfrm>
              <a:off x="0" y="0"/>
              <a:ext cx="8801481" cy="5128895"/>
            </a:xfrm>
            <a:custGeom>
              <a:avLst/>
              <a:gdLst/>
              <a:ahLst/>
              <a:cxnLst/>
              <a:rect l="l" t="t" r="r" b="b"/>
              <a:pathLst>
                <a:path w="8801481" h="5128895">
                  <a:moveTo>
                    <a:pt x="0" y="0"/>
                  </a:moveTo>
                  <a:lnTo>
                    <a:pt x="8801481" y="0"/>
                  </a:lnTo>
                  <a:lnTo>
                    <a:pt x="8801481" y="5128895"/>
                  </a:lnTo>
                  <a:lnTo>
                    <a:pt x="0" y="5128895"/>
                  </a:lnTo>
                  <a:close/>
                </a:path>
              </a:pathLst>
            </a:custGeom>
            <a:blipFill>
              <a:blip r:embed="rId9"/>
              <a:stretch>
                <a:fillRect t="-7202" b="-7201"/>
              </a:stretch>
            </a:blipFill>
          </p:spPr>
          <p:txBody>
            <a:bodyPr/>
            <a:lstStyle/>
            <a:p>
              <a:endParaRPr lang="en-US"/>
            </a:p>
          </p:txBody>
        </p:sp>
      </p:grpSp>
    </p:spTree>
    <p:extLst>
      <p:ext uri="{BB962C8B-B14F-4D97-AF65-F5344CB8AC3E}">
        <p14:creationId xmlns:p14="http://schemas.microsoft.com/office/powerpoint/2010/main" val="918079308"/>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11A08-3759-5C4B-B409-D087B108967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63892FA-CBD4-C9F6-C8B6-AFD77060D390}"/>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1EC7116D-DBBB-1A45-19D3-FCC93719A99E}"/>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8" r="-8"/>
              </a:stretch>
            </a:blipFill>
          </p:spPr>
          <p:txBody>
            <a:bodyPr/>
            <a:lstStyle/>
            <a:p>
              <a:endParaRPr lang="en-US" dirty="0"/>
            </a:p>
          </p:txBody>
        </p:sp>
      </p:grpSp>
      <p:sp>
        <p:nvSpPr>
          <p:cNvPr id="4" name="TextBox 4">
            <a:extLst>
              <a:ext uri="{FF2B5EF4-FFF2-40B4-BE49-F238E27FC236}">
                <a16:creationId xmlns:a16="http://schemas.microsoft.com/office/drawing/2014/main" id="{70D6938D-FB94-0E03-88F7-FA00102C71A6}"/>
              </a:ext>
            </a:extLst>
          </p:cNvPr>
          <p:cNvSpPr txBox="1"/>
          <p:nvPr/>
        </p:nvSpPr>
        <p:spPr>
          <a:xfrm>
            <a:off x="442965" y="8656972"/>
            <a:ext cx="15621000" cy="1195777"/>
          </a:xfrm>
          <a:prstGeom prst="rect">
            <a:avLst/>
          </a:prstGeom>
        </p:spPr>
        <p:txBody>
          <a:bodyPr wrap="square" lIns="0" tIns="0" rIns="0" bIns="0" rtlCol="0" anchor="t">
            <a:spAutoFit/>
          </a:bodyPr>
          <a:lstStyle/>
          <a:p>
            <a:pPr algn="l">
              <a:lnSpc>
                <a:spcPts val="1800"/>
              </a:lnSpc>
            </a:pPr>
            <a:r>
              <a:rPr lang="en-US" sz="3000" b="1" u="sng" dirty="0">
                <a:solidFill>
                  <a:srgbClr val="FFFFFF"/>
                </a:solidFill>
                <a:latin typeface="Open Sans Bold"/>
                <a:ea typeface="Open Sans Bold"/>
                <a:cs typeface="Open Sans Bold"/>
                <a:sym typeface="Open Sans Bold"/>
              </a:rPr>
              <a:t>Made By</a:t>
            </a:r>
            <a:r>
              <a:rPr lang="en-US" sz="3000" dirty="0">
                <a:solidFill>
                  <a:srgbClr val="FFFFFF"/>
                </a:solidFill>
                <a:latin typeface="Open Sans"/>
                <a:ea typeface="Open Sans"/>
                <a:cs typeface="Open Sans"/>
                <a:sym typeface="Open Sans"/>
              </a:rPr>
              <a:t>: Mohannad Amr, Mohamed Sherif, Mohamed Saber and Yassin Hany</a:t>
            </a:r>
          </a:p>
          <a:p>
            <a:pPr algn="l">
              <a:lnSpc>
                <a:spcPts val="1800"/>
              </a:lnSpc>
            </a:pPr>
            <a:endParaRPr lang="en-US" sz="3000" dirty="0">
              <a:solidFill>
                <a:srgbClr val="FFFFFF"/>
              </a:solidFill>
              <a:latin typeface="Open Sans"/>
              <a:ea typeface="Open Sans"/>
              <a:cs typeface="Open Sans"/>
              <a:sym typeface="Open Sans"/>
            </a:endParaRPr>
          </a:p>
          <a:p>
            <a:pPr algn="l">
              <a:lnSpc>
                <a:spcPts val="1800"/>
              </a:lnSpc>
            </a:pPr>
            <a:endParaRPr lang="en-US" sz="3000" dirty="0">
              <a:solidFill>
                <a:srgbClr val="FFFFFF"/>
              </a:solidFill>
              <a:latin typeface="Open Sans"/>
              <a:ea typeface="Open Sans"/>
              <a:cs typeface="Open Sans"/>
              <a:sym typeface="Open Sans"/>
            </a:endParaRPr>
          </a:p>
          <a:p>
            <a:pPr algn="l">
              <a:lnSpc>
                <a:spcPts val="1800"/>
              </a:lnSpc>
            </a:pPr>
            <a:endParaRPr lang="en-US" sz="3000" dirty="0">
              <a:solidFill>
                <a:srgbClr val="FFFFFF"/>
              </a:solidFill>
              <a:latin typeface="Open Sans"/>
              <a:ea typeface="Open Sans"/>
              <a:cs typeface="Open Sans"/>
              <a:sym typeface="Open Sans"/>
            </a:endParaRPr>
          </a:p>
          <a:p>
            <a:pPr algn="l">
              <a:lnSpc>
                <a:spcPts val="1800"/>
              </a:lnSpc>
            </a:pPr>
            <a:r>
              <a:rPr lang="en-US" sz="3000" b="1" u="sng" dirty="0">
                <a:solidFill>
                  <a:srgbClr val="FFFFFF"/>
                </a:solidFill>
                <a:latin typeface="Open Sans Bold"/>
                <a:ea typeface="Open Sans Bold"/>
                <a:cs typeface="Open Sans Bold"/>
                <a:sym typeface="Open Sans Bold"/>
              </a:rPr>
              <a:t> </a:t>
            </a:r>
            <a:endParaRPr lang="en-US" sz="3000" dirty="0">
              <a:solidFill>
                <a:srgbClr val="FFFFFF"/>
              </a:solidFill>
              <a:latin typeface="Open Sans"/>
              <a:ea typeface="Open Sans"/>
              <a:cs typeface="Open Sans"/>
              <a:sym typeface="Open Sans"/>
            </a:endParaRPr>
          </a:p>
        </p:txBody>
      </p:sp>
      <p:sp>
        <p:nvSpPr>
          <p:cNvPr id="5" name="Freeform 5">
            <a:extLst>
              <a:ext uri="{FF2B5EF4-FFF2-40B4-BE49-F238E27FC236}">
                <a16:creationId xmlns:a16="http://schemas.microsoft.com/office/drawing/2014/main" id="{AFEE0855-5073-4E11-E3D0-AED558B445D7}"/>
              </a:ext>
            </a:extLst>
          </p:cNvPr>
          <p:cNvSpPr/>
          <p:nvPr/>
        </p:nvSpPr>
        <p:spPr>
          <a:xfrm>
            <a:off x="16397468" y="461439"/>
            <a:ext cx="256613" cy="256613"/>
          </a:xfrm>
          <a:custGeom>
            <a:avLst/>
            <a:gdLst/>
            <a:ahLst/>
            <a:cxnLst/>
            <a:rect l="l" t="t" r="r" b="b"/>
            <a:pathLst>
              <a:path w="256613" h="256613">
                <a:moveTo>
                  <a:pt x="0" y="0"/>
                </a:moveTo>
                <a:lnTo>
                  <a:pt x="256614" y="0"/>
                </a:lnTo>
                <a:lnTo>
                  <a:pt x="256614" y="256613"/>
                </a:lnTo>
                <a:lnTo>
                  <a:pt x="0" y="25661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a:extLst>
              <a:ext uri="{FF2B5EF4-FFF2-40B4-BE49-F238E27FC236}">
                <a16:creationId xmlns:a16="http://schemas.microsoft.com/office/drawing/2014/main" id="{99382BF3-134A-A1BF-00D9-EFE968805F5D}"/>
              </a:ext>
            </a:extLst>
          </p:cNvPr>
          <p:cNvSpPr/>
          <p:nvPr/>
        </p:nvSpPr>
        <p:spPr>
          <a:xfrm>
            <a:off x="16917514" y="495605"/>
            <a:ext cx="341786" cy="188290"/>
          </a:xfrm>
          <a:custGeom>
            <a:avLst/>
            <a:gdLst/>
            <a:ahLst/>
            <a:cxnLst/>
            <a:rect l="l" t="t" r="r" b="b"/>
            <a:pathLst>
              <a:path w="341786" h="188290">
                <a:moveTo>
                  <a:pt x="0" y="0"/>
                </a:moveTo>
                <a:lnTo>
                  <a:pt x="341786" y="0"/>
                </a:lnTo>
                <a:lnTo>
                  <a:pt x="341786" y="188290"/>
                </a:lnTo>
                <a:lnTo>
                  <a:pt x="0" y="188290"/>
                </a:lnTo>
                <a:lnTo>
                  <a:pt x="0" y="0"/>
                </a:lnTo>
                <a:close/>
              </a:path>
            </a:pathLst>
          </a:custGeom>
          <a:blipFill>
            <a:blip r:embed="rId5">
              <a:extLst>
                <a:ext uri="{96DAC541-7B7A-43D3-8B79-37D633B846F1}">
                  <asvg:svgBlip xmlns:asvg="http://schemas.microsoft.com/office/drawing/2016/SVG/main" r:embed="rId6"/>
                </a:ext>
              </a:extLst>
            </a:blip>
            <a:stretch>
              <a:fillRect t="-419" b="-424"/>
            </a:stretch>
          </a:blipFill>
        </p:spPr>
        <p:txBody>
          <a:bodyPr/>
          <a:lstStyle/>
          <a:p>
            <a:endParaRPr lang="en-US"/>
          </a:p>
        </p:txBody>
      </p:sp>
      <p:sp>
        <p:nvSpPr>
          <p:cNvPr id="7" name="TextBox 7">
            <a:extLst>
              <a:ext uri="{FF2B5EF4-FFF2-40B4-BE49-F238E27FC236}">
                <a16:creationId xmlns:a16="http://schemas.microsoft.com/office/drawing/2014/main" id="{BB13BA88-483E-4995-5052-C6F89E42CB17}"/>
              </a:ext>
            </a:extLst>
          </p:cNvPr>
          <p:cNvSpPr txBox="1"/>
          <p:nvPr/>
        </p:nvSpPr>
        <p:spPr>
          <a:xfrm>
            <a:off x="3358429" y="1485900"/>
            <a:ext cx="10515600" cy="414985"/>
          </a:xfrm>
          <a:prstGeom prst="rect">
            <a:avLst/>
          </a:prstGeom>
        </p:spPr>
        <p:txBody>
          <a:bodyPr wrap="square" lIns="0" tIns="0" rIns="0" bIns="0" rtlCol="0" anchor="t">
            <a:spAutoFit/>
          </a:bodyPr>
          <a:lstStyle/>
          <a:p>
            <a:pPr algn="ctr">
              <a:lnSpc>
                <a:spcPts val="2799"/>
              </a:lnSpc>
            </a:pPr>
            <a:r>
              <a:rPr lang="en-US" sz="4400" b="1" dirty="0">
                <a:solidFill>
                  <a:srgbClr val="FFFFFF"/>
                </a:solidFill>
                <a:latin typeface="Open Sans Bold"/>
                <a:ea typeface="Open Sans Bold"/>
                <a:cs typeface="Open Sans Bold"/>
                <a:sym typeface="Open Sans Bold"/>
              </a:rPr>
              <a:t>Statistical Analysis of Online Chess</a:t>
            </a:r>
          </a:p>
        </p:txBody>
      </p:sp>
      <p:sp>
        <p:nvSpPr>
          <p:cNvPr id="8" name="TextBox 8">
            <a:extLst>
              <a:ext uri="{FF2B5EF4-FFF2-40B4-BE49-F238E27FC236}">
                <a16:creationId xmlns:a16="http://schemas.microsoft.com/office/drawing/2014/main" id="{23236246-C676-C6A5-BF3E-BCFE620B5465}"/>
              </a:ext>
            </a:extLst>
          </p:cNvPr>
          <p:cNvSpPr txBox="1"/>
          <p:nvPr/>
        </p:nvSpPr>
        <p:spPr>
          <a:xfrm>
            <a:off x="102870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About</a:t>
            </a:r>
          </a:p>
        </p:txBody>
      </p:sp>
      <p:sp>
        <p:nvSpPr>
          <p:cNvPr id="9" name="TextBox 9">
            <a:extLst>
              <a:ext uri="{FF2B5EF4-FFF2-40B4-BE49-F238E27FC236}">
                <a16:creationId xmlns:a16="http://schemas.microsoft.com/office/drawing/2014/main" id="{1F6F9F31-BD40-E872-7908-C2657E011A18}"/>
              </a:ext>
            </a:extLst>
          </p:cNvPr>
          <p:cNvSpPr txBox="1"/>
          <p:nvPr/>
        </p:nvSpPr>
        <p:spPr>
          <a:xfrm>
            <a:off x="2338330"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Project</a:t>
            </a:r>
          </a:p>
        </p:txBody>
      </p:sp>
      <p:sp>
        <p:nvSpPr>
          <p:cNvPr id="10" name="TextBox 10">
            <a:extLst>
              <a:ext uri="{FF2B5EF4-FFF2-40B4-BE49-F238E27FC236}">
                <a16:creationId xmlns:a16="http://schemas.microsoft.com/office/drawing/2014/main" id="{199E6373-1A2C-F072-59EC-10AD05EC49BB}"/>
              </a:ext>
            </a:extLst>
          </p:cNvPr>
          <p:cNvSpPr txBox="1"/>
          <p:nvPr/>
        </p:nvSpPr>
        <p:spPr>
          <a:xfrm>
            <a:off x="3647961" y="462115"/>
            <a:ext cx="1020099" cy="217170"/>
          </a:xfrm>
          <a:prstGeom prst="rect">
            <a:avLst/>
          </a:prstGeom>
        </p:spPr>
        <p:txBody>
          <a:bodyPr lIns="0" tIns="0" rIns="0" bIns="0" rtlCol="0" anchor="t">
            <a:spAutoFit/>
          </a:bodyPr>
          <a:lstStyle/>
          <a:p>
            <a:pPr algn="l">
              <a:lnSpc>
                <a:spcPts val="1679"/>
              </a:lnSpc>
            </a:pPr>
            <a:r>
              <a:rPr lang="en-US" sz="1200">
                <a:solidFill>
                  <a:srgbClr val="FFFFFF"/>
                </a:solidFill>
                <a:latin typeface="Open Sans"/>
                <a:ea typeface="Open Sans"/>
                <a:cs typeface="Open Sans"/>
                <a:sym typeface="Open Sans"/>
              </a:rPr>
              <a:t>Service</a:t>
            </a:r>
          </a:p>
        </p:txBody>
      </p:sp>
      <p:sp>
        <p:nvSpPr>
          <p:cNvPr id="11" name="TextBox 10">
            <a:extLst>
              <a:ext uri="{FF2B5EF4-FFF2-40B4-BE49-F238E27FC236}">
                <a16:creationId xmlns:a16="http://schemas.microsoft.com/office/drawing/2014/main" id="{AB204BD4-933E-9C4C-559D-9CDCE9667821}"/>
              </a:ext>
            </a:extLst>
          </p:cNvPr>
          <p:cNvSpPr txBox="1"/>
          <p:nvPr/>
        </p:nvSpPr>
        <p:spPr>
          <a:xfrm>
            <a:off x="5867400" y="3862491"/>
            <a:ext cx="5824190" cy="1400383"/>
          </a:xfrm>
          <a:prstGeom prst="rect">
            <a:avLst/>
          </a:prstGeom>
          <a:noFill/>
        </p:spPr>
        <p:txBody>
          <a:bodyPr wrap="square" rtlCol="0">
            <a:spAutoFit/>
          </a:bodyPr>
          <a:lstStyle/>
          <a:p>
            <a:r>
              <a:rPr lang="en-US" sz="8500" dirty="0">
                <a:solidFill>
                  <a:schemeClr val="bg1"/>
                </a:solidFill>
              </a:rPr>
              <a:t>Thank you</a:t>
            </a:r>
          </a:p>
        </p:txBody>
      </p:sp>
    </p:spTree>
    <p:extLst>
      <p:ext uri="{BB962C8B-B14F-4D97-AF65-F5344CB8AC3E}">
        <p14:creationId xmlns:p14="http://schemas.microsoft.com/office/powerpoint/2010/main" val="12102066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305</TotalTime>
  <Words>2076</Words>
  <Application>Microsoft Office PowerPoint</Application>
  <PresentationFormat>Custom</PresentationFormat>
  <Paragraphs>310</Paragraphs>
  <Slides>24</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24</vt:i4>
      </vt:variant>
    </vt:vector>
  </HeadingPairs>
  <TitlesOfParts>
    <vt:vector size="37" baseType="lpstr">
      <vt:lpstr>Open Sans</vt:lpstr>
      <vt:lpstr>Wingdings</vt:lpstr>
      <vt:lpstr>Cambria Math</vt:lpstr>
      <vt:lpstr>Calibri</vt:lpstr>
      <vt:lpstr>Calibri (MS) Bold</vt:lpstr>
      <vt:lpstr>Canva Sans</vt:lpstr>
      <vt:lpstr>Calibri (MS) Bold Italics</vt:lpstr>
      <vt:lpstr>Arial</vt:lpstr>
      <vt:lpstr>Calibri (MS)</vt:lpstr>
      <vt:lpstr>Archivo Black</vt:lpstr>
      <vt:lpstr>Aptos</vt:lpstr>
      <vt:lpstr>Open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STAT_1910 Project.pptx</dc:title>
  <cp:lastModifiedBy>Mohamed Sherif Mohamed Stu</cp:lastModifiedBy>
  <cp:revision>9</cp:revision>
  <dcterms:created xsi:type="dcterms:W3CDTF">2006-08-16T00:00:00Z</dcterms:created>
  <dcterms:modified xsi:type="dcterms:W3CDTF">2025-12-20T18:41:16Z</dcterms:modified>
  <dc:identifier>DAG8CK4R9r0</dc:identifier>
</cp:coreProperties>
</file>